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0"/>
  </p:normalViewPr>
  <p:slideViewPr>
    <p:cSldViewPr snapToGrid="0" snapToObjects="1">
      <p:cViewPr varScale="1">
        <p:scale>
          <a:sx n="83" d="100"/>
          <a:sy n="83" d="100"/>
        </p:scale>
        <p:origin x="86"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359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FoodShare connects surplus food donors with NGOs and community organizations. The project demonstrates a practical workflow and shows how C data structures can do real work behind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need in everyday terms. The aim is to help surplus food reach communities in time. This is a prototype and learning project, not a food safety or logistics authority.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concrete example. Explain that quantity and expiry are validated. A successful request marks the donation claimed. As delivery advances, it becomes collected and finally distributed.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this is actually C: the UI is React, but the deployed shared data and workflow go through the native C HTTP server. That server includes ds.c. The same library is also compiled to WebAssembly for browser-side educational features.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analogies. Emphasize that queue and deque are not duplicates: FIFO preserves arrival order while the dispatch deque lets urgent or manually reordered jobs move forward.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why there are two: the heap answers an urgency question; the tree answers a particular-ID lookup question. The tree implementation maintains heights and rotates, so it is AVL-style balanced.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linked list as a one-way chain of progress steps, not an actual road map. Explain graph as relationships among the hub, donors, and NGOs. BFS and DFS are ways to visit connected graph nodes in different orders.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once. The backend is on Render free, so if the site was idle the first call might take around a minute. Open the page before the presentation if possible; the user stays on the Vercel site.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limitations if asked. Demo accounts and roles are for study only. The backend stores records in RAM. Do not enter sensitive information. Future work could add production-grade security and persistent storage.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central idea: each C structure was chosen for a specific job in the workflow.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OODSHARE">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D7B1C"/>
          </a:solidFill>
          <a:ln w="12700">
            <a:solidFill>
              <a:srgbClr val="BD7B1C">
                <a:alpha val="0"/>
              </a:srgbClr>
            </a:solidFill>
            <a:prstDash val="solid"/>
          </a:ln>
        </p:spPr>
      </p:sp>
      <p:sp>
        <p:nvSpPr>
          <p:cNvPr id="3" name="Shape 1"/>
          <p:cNvSpPr/>
          <p:nvPr/>
        </p:nvSpPr>
        <p:spPr>
          <a:xfrm>
            <a:off x="502920" y="6510528"/>
            <a:ext cx="11183112" cy="0"/>
          </a:xfrm>
          <a:prstGeom prst="line">
            <a:avLst/>
          </a:prstGeom>
          <a:noFill/>
          <a:ln w="8890">
            <a:solidFill>
              <a:srgbClr val="DED5C6"/>
            </a:solidFill>
            <a:prstDash val="solid"/>
          </a:ln>
        </p:spPr>
      </p:sp>
      <p:sp>
        <p:nvSpPr>
          <p:cNvPr id="4" name="Text 2"/>
          <p:cNvSpPr/>
          <p:nvPr/>
        </p:nvSpPr>
        <p:spPr>
          <a:xfrm>
            <a:off x="530352" y="6556248"/>
            <a:ext cx="6949440" cy="164592"/>
          </a:xfrm>
          <a:prstGeom prst="rect">
            <a:avLst/>
          </a:prstGeom>
          <a:noFill/>
          <a:ln/>
        </p:spPr>
        <p:txBody>
          <a:bodyPr wrap="square" lIns="0" tIns="0" rIns="0" bIns="0" rtlCol="0" anchor="ctr"/>
          <a:lstStyle/>
          <a:p>
            <a:pPr marL="0" indent="0">
              <a:buNone/>
            </a:pPr>
            <a:r>
              <a:rPr lang="en-US" sz="800" b="1" kern="0" spc="60" dirty="0">
                <a:solidFill>
                  <a:srgbClr val="756C60"/>
                </a:solidFill>
                <a:latin typeface="Aptos" pitchFamily="34" charset="0"/>
                <a:ea typeface="Aptos" pitchFamily="34" charset="-122"/>
                <a:cs typeface="Aptos" pitchFamily="34" charset="-120"/>
              </a:rPr>
              <a:t>FOODSHARE  /  FROM SURPLUS TO SHARED</a:t>
            </a:r>
            <a:endParaRPr lang="en-US" sz="800" dirty="0"/>
          </a:p>
        </p:txBody>
      </p:sp>
      <p:sp>
        <p:nvSpPr>
          <p:cNvPr id="25"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1"/>
        </a:solidFill>
        <a:effectLst/>
      </p:bgPr>
    </p:bg>
    <p:spTree>
      <p:nvGrpSpPr>
        <p:cNvPr id="1" name=""/>
        <p:cNvGrpSpPr/>
        <p:nvPr/>
      </p:nvGrpSpPr>
      <p:grpSpPr>
        <a:xfrm>
          <a:off x="0" y="0"/>
          <a:ext cx="0" cy="0"/>
          <a:chOff x="0" y="0"/>
          <a:chExt cx="0" cy="0"/>
        </a:xfrm>
      </p:grpSpPr>
      <p:sp>
        <p:nvSpPr>
          <p:cNvPr id="2" name="Shape 0"/>
          <p:cNvSpPr/>
          <p:nvPr/>
        </p:nvSpPr>
        <p:spPr>
          <a:xfrm>
            <a:off x="8823960" y="365760"/>
            <a:ext cx="2834640" cy="2834640"/>
          </a:xfrm>
          <a:prstGeom prst="ellipse">
            <a:avLst/>
          </a:prstGeom>
          <a:solidFill>
            <a:srgbClr val="F5E8CC"/>
          </a:solidFill>
          <a:ln w="12700">
            <a:solidFill>
              <a:srgbClr val="F5E8CC">
                <a:alpha val="0"/>
              </a:srgbClr>
            </a:solidFill>
            <a:prstDash val="solid"/>
          </a:ln>
        </p:spPr>
      </p:sp>
      <p:sp>
        <p:nvSpPr>
          <p:cNvPr id="3" name="Shape 1"/>
          <p:cNvSpPr/>
          <p:nvPr/>
        </p:nvSpPr>
        <p:spPr>
          <a:xfrm>
            <a:off x="7909560" y="2286000"/>
            <a:ext cx="1737360" cy="1737360"/>
          </a:xfrm>
          <a:prstGeom prst="ellipse">
            <a:avLst/>
          </a:prstGeom>
          <a:solidFill>
            <a:srgbClr val="E7EFDF"/>
          </a:solidFill>
          <a:ln w="12700">
            <a:solidFill>
              <a:srgbClr val="E7EFDF">
                <a:alpha val="0"/>
              </a:srgbClr>
            </a:solidFill>
            <a:prstDash val="solid"/>
          </a:ln>
        </p:spPr>
      </p:sp>
      <p:sp>
        <p:nvSpPr>
          <p:cNvPr id="4" name="Text 2"/>
          <p:cNvSpPr txBox="1"/>
          <p:nvPr/>
        </p:nvSpPr>
        <p:spPr>
          <a:xfrm>
            <a:off x="685800" y="822960"/>
            <a:ext cx="3657600" cy="320040"/>
          </a:xfrm>
          <a:prstGeom prst="rect">
            <a:avLst/>
          </a:prstGeom>
          <a:noFill/>
          <a:ln/>
        </p:spPr>
        <p:txBody>
          <a:bodyPr wrap="square" lIns="0" tIns="0" rIns="0" bIns="0" rtlCol="0" anchor="ctr">
            <a:normAutofit/>
          </a:bodyPr>
          <a:lstStyle/>
          <a:p>
            <a:pPr marL="0" indent="0" algn="l">
              <a:buNone/>
            </a:pPr>
            <a:r>
              <a:rPr lang="en-US" sz="1600" b="1" kern="0" spc="200" dirty="0">
                <a:solidFill>
                  <a:srgbClr val="BD7B1C"/>
                </a:solidFill>
                <a:latin typeface="Aptos" pitchFamily="34" charset="0"/>
                <a:ea typeface="Aptos" pitchFamily="34" charset="-122"/>
                <a:cs typeface="Aptos" pitchFamily="34" charset="-120"/>
              </a:rPr>
              <a:t>FOODSHARE</a:t>
            </a:r>
            <a:endParaRPr lang="en-US" sz="1600" dirty="0"/>
          </a:p>
        </p:txBody>
      </p:sp>
      <p:sp>
        <p:nvSpPr>
          <p:cNvPr id="5" name="Text 3"/>
          <p:cNvSpPr txBox="1"/>
          <p:nvPr/>
        </p:nvSpPr>
        <p:spPr>
          <a:xfrm>
            <a:off x="685800" y="1417320"/>
            <a:ext cx="6675120" cy="1508760"/>
          </a:xfrm>
          <a:prstGeom prst="rect">
            <a:avLst/>
          </a:prstGeom>
          <a:noFill/>
          <a:ln/>
        </p:spPr>
        <p:txBody>
          <a:bodyPr wrap="square" lIns="0" tIns="0" rIns="0" bIns="0" rtlCol="0" anchor="t">
            <a:normAutofit/>
          </a:bodyPr>
          <a:lstStyle/>
          <a:p>
            <a:pPr marL="0" indent="0" algn="l">
              <a:buNone/>
            </a:pPr>
            <a:r>
              <a:rPr lang="en-US" sz="4300" b="1" dirty="0">
                <a:solidFill>
                  <a:srgbClr val="29261F"/>
                </a:solidFill>
                <a:latin typeface="Aptos" pitchFamily="34" charset="0"/>
                <a:ea typeface="Aptos" pitchFamily="34" charset="-122"/>
                <a:cs typeface="Aptos" pitchFamily="34" charset="-120"/>
              </a:rPr>
              <a:t>From surplus</a:t>
            </a:r>
            <a:endParaRPr lang="en-US" sz="4300" dirty="0"/>
          </a:p>
          <a:p>
            <a:pPr marL="0" indent="0" algn="l">
              <a:buNone/>
            </a:pPr>
            <a:r>
              <a:rPr lang="en-US" sz="4300" b="1" dirty="0">
                <a:solidFill>
                  <a:srgbClr val="29261F"/>
                </a:solidFill>
                <a:latin typeface="Aptos" pitchFamily="34" charset="0"/>
                <a:ea typeface="Aptos" pitchFamily="34" charset="-122"/>
                <a:cs typeface="Aptos" pitchFamily="34" charset="-120"/>
              </a:rPr>
              <a:t>to shared.</a:t>
            </a:r>
            <a:endParaRPr lang="en-US" sz="4300" dirty="0"/>
          </a:p>
        </p:txBody>
      </p:sp>
      <p:sp>
        <p:nvSpPr>
          <p:cNvPr id="6" name="Text 4"/>
          <p:cNvSpPr txBox="1"/>
          <p:nvPr/>
        </p:nvSpPr>
        <p:spPr>
          <a:xfrm>
            <a:off x="731520" y="3154680"/>
            <a:ext cx="6949440" cy="502920"/>
          </a:xfrm>
          <a:prstGeom prst="rect">
            <a:avLst/>
          </a:prstGeom>
          <a:noFill/>
          <a:ln/>
        </p:spPr>
        <p:txBody>
          <a:bodyPr wrap="square" lIns="0" tIns="0" rIns="0" bIns="0" rtlCol="0" anchor="ctr">
            <a:normAutofit/>
          </a:bodyPr>
          <a:lstStyle/>
          <a:p>
            <a:pPr marL="0" indent="0" algn="l">
              <a:buNone/>
            </a:pPr>
            <a:r>
              <a:rPr lang="en-US" sz="1900" dirty="0">
                <a:solidFill>
                  <a:srgbClr val="6A6256"/>
                </a:solidFill>
                <a:latin typeface="Aptos" pitchFamily="34" charset="0"/>
                <a:ea typeface="Aptos" pitchFamily="34" charset="-122"/>
                <a:cs typeface="Aptos" pitchFamily="34" charset="-120"/>
              </a:rPr>
              <a:t>A food donation workflow powered by real C data structures</a:t>
            </a:r>
            <a:endParaRPr lang="en-US" sz="1900" dirty="0"/>
          </a:p>
        </p:txBody>
      </p:sp>
      <p:sp>
        <p:nvSpPr>
          <p:cNvPr id="7" name="Shape 5"/>
          <p:cNvSpPr/>
          <p:nvPr/>
        </p:nvSpPr>
        <p:spPr>
          <a:xfrm>
            <a:off x="731520" y="4069080"/>
            <a:ext cx="6126480" cy="1051560"/>
          </a:xfrm>
          <a:prstGeom prst="roundRect">
            <a:avLst>
              <a:gd name="adj" fmla="val 6957"/>
            </a:avLst>
          </a:prstGeom>
          <a:solidFill>
            <a:srgbClr val="FFFFFF"/>
          </a:solidFill>
          <a:ln w="12700">
            <a:solidFill>
              <a:srgbClr val="DED5C6"/>
            </a:solidFill>
            <a:prstDash val="solid"/>
          </a:ln>
        </p:spPr>
        <p:txBody>
          <a:bodyPr/>
          <a:lstStyle/>
          <a:p>
            <a:endParaRPr lang="en-IN" dirty="0"/>
          </a:p>
        </p:txBody>
      </p:sp>
      <p:sp>
        <p:nvSpPr>
          <p:cNvPr id="8" name="Text 6"/>
          <p:cNvSpPr txBox="1"/>
          <p:nvPr/>
        </p:nvSpPr>
        <p:spPr>
          <a:xfrm>
            <a:off x="960120" y="4466844"/>
            <a:ext cx="960120" cy="228600"/>
          </a:xfrm>
          <a:prstGeom prst="rect">
            <a:avLst/>
          </a:prstGeom>
          <a:noFill/>
          <a:ln/>
        </p:spPr>
        <p:txBody>
          <a:bodyPr wrap="square" lIns="0" tIns="0" rIns="0" bIns="0" rtlCol="0" anchor="ctr">
            <a:normAutofit/>
          </a:bodyPr>
          <a:lstStyle/>
          <a:p>
            <a:pPr marL="0" indent="0" algn="ctr">
              <a:buNone/>
            </a:pPr>
            <a:r>
              <a:rPr lang="en-US" sz="1200" b="1" dirty="0">
                <a:solidFill>
                  <a:srgbClr val="35512D"/>
                </a:solidFill>
                <a:latin typeface="Aptos" pitchFamily="34" charset="0"/>
                <a:ea typeface="Aptos" pitchFamily="34" charset="-122"/>
                <a:cs typeface="Aptos" pitchFamily="34" charset="-120"/>
              </a:rPr>
              <a:t>DONOR</a:t>
            </a:r>
            <a:endParaRPr lang="en-US" sz="1200" dirty="0"/>
          </a:p>
        </p:txBody>
      </p:sp>
      <p:sp>
        <p:nvSpPr>
          <p:cNvPr id="9" name="Shape 7"/>
          <p:cNvSpPr/>
          <p:nvPr/>
        </p:nvSpPr>
        <p:spPr>
          <a:xfrm>
            <a:off x="2011680" y="4578698"/>
            <a:ext cx="777240" cy="0"/>
          </a:xfrm>
          <a:prstGeom prst="line">
            <a:avLst/>
          </a:prstGeom>
          <a:noFill/>
          <a:ln w="25400">
            <a:solidFill>
              <a:srgbClr val="BD7B1C"/>
            </a:solidFill>
            <a:prstDash val="solid"/>
            <a:headEnd type="none"/>
            <a:tailEnd type="triangle"/>
          </a:ln>
        </p:spPr>
      </p:sp>
      <p:sp>
        <p:nvSpPr>
          <p:cNvPr id="10" name="Text 8"/>
          <p:cNvSpPr txBox="1"/>
          <p:nvPr/>
        </p:nvSpPr>
        <p:spPr>
          <a:xfrm>
            <a:off x="2880360" y="4457940"/>
            <a:ext cx="1143000" cy="228600"/>
          </a:xfrm>
          <a:prstGeom prst="rect">
            <a:avLst/>
          </a:prstGeom>
          <a:noFill/>
          <a:ln/>
        </p:spPr>
        <p:txBody>
          <a:bodyPr wrap="square" lIns="0" tIns="0" rIns="0" bIns="0" rtlCol="0" anchor="ctr">
            <a:normAutofit/>
          </a:bodyPr>
          <a:lstStyle/>
          <a:p>
            <a:pPr marL="0" indent="0" algn="ctr">
              <a:buNone/>
            </a:pPr>
            <a:r>
              <a:rPr lang="en-US" sz="1200" b="1" dirty="0">
                <a:solidFill>
                  <a:srgbClr val="BD7B1C"/>
                </a:solidFill>
                <a:latin typeface="Aptos" pitchFamily="34" charset="0"/>
                <a:ea typeface="Aptos" pitchFamily="34" charset="-122"/>
                <a:cs typeface="Aptos" pitchFamily="34" charset="-120"/>
              </a:rPr>
              <a:t>FOOD HUB</a:t>
            </a:r>
            <a:endParaRPr lang="en-US" sz="1200" dirty="0"/>
          </a:p>
        </p:txBody>
      </p:sp>
      <p:sp>
        <p:nvSpPr>
          <p:cNvPr id="11" name="Shape 9"/>
          <p:cNvSpPr/>
          <p:nvPr/>
        </p:nvSpPr>
        <p:spPr>
          <a:xfrm>
            <a:off x="4114800" y="4570897"/>
            <a:ext cx="731520" cy="0"/>
          </a:xfrm>
          <a:prstGeom prst="line">
            <a:avLst/>
          </a:prstGeom>
          <a:noFill/>
          <a:ln w="25400">
            <a:solidFill>
              <a:srgbClr val="BD7B1C"/>
            </a:solidFill>
            <a:prstDash val="solid"/>
            <a:headEnd type="none"/>
            <a:tailEnd type="triangle"/>
          </a:ln>
        </p:spPr>
      </p:sp>
      <p:sp>
        <p:nvSpPr>
          <p:cNvPr id="12" name="Text 10"/>
          <p:cNvSpPr txBox="1"/>
          <p:nvPr/>
        </p:nvSpPr>
        <p:spPr>
          <a:xfrm>
            <a:off x="4937760" y="4454151"/>
            <a:ext cx="1463040" cy="228600"/>
          </a:xfrm>
          <a:prstGeom prst="rect">
            <a:avLst/>
          </a:prstGeom>
          <a:noFill/>
          <a:ln/>
        </p:spPr>
        <p:txBody>
          <a:bodyPr wrap="square" lIns="0" tIns="0" rIns="0" bIns="0" rtlCol="0" anchor="ctr">
            <a:normAutofit/>
          </a:bodyPr>
          <a:lstStyle/>
          <a:p>
            <a:pPr marL="0" indent="0" algn="ctr">
              <a:buNone/>
            </a:pPr>
            <a:r>
              <a:rPr lang="en-US" sz="1200" b="1" dirty="0">
                <a:solidFill>
                  <a:srgbClr val="35512D"/>
                </a:solidFill>
                <a:latin typeface="Aptos" pitchFamily="34" charset="0"/>
                <a:ea typeface="Aptos" pitchFamily="34" charset="-122"/>
                <a:cs typeface="Aptos" pitchFamily="34" charset="-120"/>
              </a:rPr>
              <a:t>COMMUNITY</a:t>
            </a:r>
            <a:endParaRPr lang="en-US" sz="1200" dirty="0"/>
          </a:p>
        </p:txBody>
      </p:sp>
      <p:sp>
        <p:nvSpPr>
          <p:cNvPr id="13" name="Text 11"/>
          <p:cNvSpPr txBox="1"/>
          <p:nvPr/>
        </p:nvSpPr>
        <p:spPr>
          <a:xfrm>
            <a:off x="749808" y="5687568"/>
            <a:ext cx="5486400" cy="228600"/>
          </a:xfrm>
          <a:prstGeom prst="rect">
            <a:avLst/>
          </a:prstGeom>
          <a:noFill/>
          <a:ln/>
        </p:spPr>
        <p:txBody>
          <a:bodyPr wrap="square" lIns="0" tIns="0" rIns="0" bIns="0" rtlCol="0" anchor="ctr">
            <a:normAutofit/>
          </a:bodyPr>
          <a:lstStyle/>
          <a:p>
            <a:r>
              <a:rPr lang="en-US" sz="1400" b="1" u="sng" dirty="0">
                <a:solidFill>
                  <a:srgbClr val="6A6256"/>
                </a:solidFill>
                <a:latin typeface="Aptos" pitchFamily="34" charset="0"/>
                <a:ea typeface="Aptos" pitchFamily="34" charset="-122"/>
                <a:cs typeface="Aptos" pitchFamily="34" charset="-120"/>
              </a:rPr>
              <a:t>Team</a:t>
            </a:r>
            <a:r>
              <a:rPr lang="en-US" sz="1400" dirty="0">
                <a:solidFill>
                  <a:srgbClr val="6A6256"/>
                </a:solidFill>
                <a:latin typeface="Aptos" pitchFamily="34" charset="0"/>
                <a:ea typeface="Aptos" pitchFamily="34" charset="-122"/>
                <a:cs typeface="Aptos" pitchFamily="34" charset="-120"/>
              </a:rPr>
              <a:t>  •  Ananthu T  •  Ansan K Antony •  Athul •  Pranav •  </a:t>
            </a:r>
            <a:r>
              <a:rPr lang="en-US" sz="1400" dirty="0" err="1">
                <a:solidFill>
                  <a:srgbClr val="6A6256"/>
                </a:solidFill>
                <a:latin typeface="Aptos" pitchFamily="34" charset="0"/>
                <a:ea typeface="Aptos" pitchFamily="34" charset="-122"/>
                <a:cs typeface="Aptos" pitchFamily="34" charset="-120"/>
              </a:rPr>
              <a:t>Thejus</a:t>
            </a:r>
            <a:r>
              <a:rPr lang="en-US" sz="1400" dirty="0">
                <a:solidFill>
                  <a:srgbClr val="6A6256"/>
                </a:solidFill>
                <a:latin typeface="Aptos" pitchFamily="34" charset="0"/>
                <a:ea typeface="Aptos" pitchFamily="34" charset="-122"/>
                <a:cs typeface="Aptos" pitchFamily="34" charset="-120"/>
              </a:rPr>
              <a:t> K 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The problem — and our idea</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Make surplus food easier to offer, request, and deliver</a:t>
            </a:r>
            <a:endParaRPr lang="en-US" sz="1250" dirty="0"/>
          </a:p>
        </p:txBody>
      </p:sp>
      <p:sp>
        <p:nvSpPr>
          <p:cNvPr id="4" name="Shape 2"/>
          <p:cNvSpPr/>
          <p:nvPr/>
        </p:nvSpPr>
        <p:spPr>
          <a:xfrm>
            <a:off x="685800" y="1508760"/>
            <a:ext cx="5166360" cy="1874520"/>
          </a:xfrm>
          <a:prstGeom prst="roundRect">
            <a:avLst>
              <a:gd name="adj" fmla="val 3902"/>
            </a:avLst>
          </a:prstGeom>
          <a:solidFill>
            <a:srgbClr val="FAE9E5"/>
          </a:solidFill>
          <a:ln w="12700">
            <a:solidFill>
              <a:srgbClr val="DED5C6"/>
            </a:solidFill>
            <a:prstDash val="solid"/>
          </a:ln>
        </p:spPr>
      </p:sp>
      <p:sp>
        <p:nvSpPr>
          <p:cNvPr id="5" name="Shape 3"/>
          <p:cNvSpPr/>
          <p:nvPr/>
        </p:nvSpPr>
        <p:spPr>
          <a:xfrm>
            <a:off x="832104" y="1691640"/>
            <a:ext cx="82296" cy="1508760"/>
          </a:xfrm>
          <a:prstGeom prst="roundRect">
            <a:avLst/>
          </a:prstGeom>
          <a:solidFill>
            <a:srgbClr val="C46E5E"/>
          </a:solidFill>
          <a:ln w="12700">
            <a:solidFill>
              <a:srgbClr val="C46E5E">
                <a:alpha val="0"/>
              </a:srgbClr>
            </a:solidFill>
            <a:prstDash val="solid"/>
          </a:ln>
        </p:spPr>
      </p:sp>
      <p:sp>
        <p:nvSpPr>
          <p:cNvPr id="6" name="Text 4"/>
          <p:cNvSpPr txBox="1"/>
          <p:nvPr/>
        </p:nvSpPr>
        <p:spPr>
          <a:xfrm>
            <a:off x="1042416" y="1709928"/>
            <a:ext cx="4608576" cy="347472"/>
          </a:xfrm>
          <a:prstGeom prst="rect">
            <a:avLst/>
          </a:prstGeom>
          <a:noFill/>
          <a:ln/>
        </p:spPr>
        <p:txBody>
          <a:bodyPr wrap="square" lIns="0" tIns="0" rIns="0" bIns="0" rtlCol="0" anchor="ctr">
            <a:normAutofit/>
          </a:bodyPr>
          <a:lstStyle/>
          <a:p>
            <a:pPr marL="0" indent="0" algn="l">
              <a:buNone/>
            </a:pPr>
            <a:r>
              <a:rPr lang="en-US" sz="1900" b="1" dirty="0">
                <a:solidFill>
                  <a:srgbClr val="29261F"/>
                </a:solidFill>
                <a:latin typeface="Aptos" pitchFamily="34" charset="0"/>
                <a:ea typeface="Aptos" pitchFamily="34" charset="-122"/>
                <a:cs typeface="Aptos" pitchFamily="34" charset="-120"/>
              </a:rPr>
              <a:t>The problem</a:t>
            </a:r>
            <a:endParaRPr lang="en-US" sz="1900" dirty="0"/>
          </a:p>
        </p:txBody>
      </p:sp>
      <p:sp>
        <p:nvSpPr>
          <p:cNvPr id="7" name="Text 5"/>
          <p:cNvSpPr txBox="1"/>
          <p:nvPr/>
        </p:nvSpPr>
        <p:spPr>
          <a:xfrm>
            <a:off x="1042416" y="2157984"/>
            <a:ext cx="4562856" cy="1069848"/>
          </a:xfrm>
          <a:prstGeom prst="rect">
            <a:avLst/>
          </a:prstGeom>
          <a:noFill/>
          <a:ln/>
        </p:spPr>
        <p:txBody>
          <a:bodyPr wrap="square" lIns="0" tIns="0" rIns="0" bIns="0" rtlCol="0" anchor="t">
            <a:normAutofit/>
          </a:bodyPr>
          <a:lstStyle/>
          <a:p>
            <a:pPr marL="0" indent="0" algn="l">
              <a:buNone/>
            </a:pPr>
            <a:r>
              <a:rPr lang="en-US" sz="1400" dirty="0">
                <a:solidFill>
                  <a:srgbClr val="6A6256"/>
                </a:solidFill>
                <a:latin typeface="Aptos" pitchFamily="34" charset="0"/>
                <a:ea typeface="Aptos" pitchFamily="34" charset="-122"/>
                <a:cs typeface="Aptos" pitchFamily="34" charset="-120"/>
              </a:rPr>
              <a:t>Good food can go unused while nearby communities need meals.</a:t>
            </a:r>
            <a:endParaRPr lang="en-US" sz="1400" dirty="0"/>
          </a:p>
          <a:p>
            <a:pPr marL="0" indent="0" algn="l">
              <a:buNone/>
            </a:pP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Offers, expiry times, and pickup requests are hard to coordinate without one shared view.</a:t>
            </a:r>
            <a:endParaRPr lang="en-US" sz="1400" dirty="0"/>
          </a:p>
        </p:txBody>
      </p:sp>
      <p:sp>
        <p:nvSpPr>
          <p:cNvPr id="8" name="Shape 6"/>
          <p:cNvSpPr/>
          <p:nvPr/>
        </p:nvSpPr>
        <p:spPr>
          <a:xfrm>
            <a:off x="6309360" y="1508760"/>
            <a:ext cx="5166360" cy="1874520"/>
          </a:xfrm>
          <a:prstGeom prst="roundRect">
            <a:avLst>
              <a:gd name="adj" fmla="val 3902"/>
            </a:avLst>
          </a:prstGeom>
          <a:solidFill>
            <a:srgbClr val="E8F1E3"/>
          </a:solidFill>
          <a:ln w="12700">
            <a:solidFill>
              <a:srgbClr val="DED5C6"/>
            </a:solidFill>
            <a:prstDash val="solid"/>
          </a:ln>
        </p:spPr>
      </p:sp>
      <p:sp>
        <p:nvSpPr>
          <p:cNvPr id="9" name="Shape 7"/>
          <p:cNvSpPr/>
          <p:nvPr/>
        </p:nvSpPr>
        <p:spPr>
          <a:xfrm>
            <a:off x="6455664" y="1691640"/>
            <a:ext cx="82296" cy="1508760"/>
          </a:xfrm>
          <a:prstGeom prst="roundRect">
            <a:avLst/>
          </a:prstGeom>
          <a:solidFill>
            <a:srgbClr val="6C965F"/>
          </a:solidFill>
          <a:ln w="12700">
            <a:solidFill>
              <a:srgbClr val="6C965F">
                <a:alpha val="0"/>
              </a:srgbClr>
            </a:solidFill>
            <a:prstDash val="solid"/>
          </a:ln>
        </p:spPr>
      </p:sp>
      <p:sp>
        <p:nvSpPr>
          <p:cNvPr id="10" name="Text 8"/>
          <p:cNvSpPr txBox="1"/>
          <p:nvPr/>
        </p:nvSpPr>
        <p:spPr>
          <a:xfrm>
            <a:off x="6665976" y="1709928"/>
            <a:ext cx="4608576" cy="347472"/>
          </a:xfrm>
          <a:prstGeom prst="rect">
            <a:avLst/>
          </a:prstGeom>
          <a:noFill/>
          <a:ln/>
        </p:spPr>
        <p:txBody>
          <a:bodyPr wrap="square" lIns="0" tIns="0" rIns="0" bIns="0" rtlCol="0" anchor="ctr">
            <a:normAutofit/>
          </a:bodyPr>
          <a:lstStyle/>
          <a:p>
            <a:pPr marL="0" indent="0" algn="l">
              <a:buNone/>
            </a:pPr>
            <a:r>
              <a:rPr lang="en-US" sz="1900" b="1" dirty="0">
                <a:solidFill>
                  <a:srgbClr val="29261F"/>
                </a:solidFill>
                <a:latin typeface="Aptos" pitchFamily="34" charset="0"/>
                <a:ea typeface="Aptos" pitchFamily="34" charset="-122"/>
                <a:cs typeface="Aptos" pitchFamily="34" charset="-120"/>
              </a:rPr>
              <a:t>The FoodShare idea</a:t>
            </a:r>
            <a:endParaRPr lang="en-US" sz="1900" dirty="0"/>
          </a:p>
        </p:txBody>
      </p:sp>
      <p:sp>
        <p:nvSpPr>
          <p:cNvPr id="11" name="Text 9"/>
          <p:cNvSpPr txBox="1"/>
          <p:nvPr/>
        </p:nvSpPr>
        <p:spPr>
          <a:xfrm>
            <a:off x="6665976" y="2157984"/>
            <a:ext cx="4562856" cy="1069848"/>
          </a:xfrm>
          <a:prstGeom prst="rect">
            <a:avLst/>
          </a:prstGeom>
          <a:noFill/>
          <a:ln/>
        </p:spPr>
        <p:txBody>
          <a:bodyPr wrap="square" lIns="0" tIns="0" rIns="0" bIns="0" rtlCol="0" anchor="t">
            <a:normAutofit/>
          </a:bodyPr>
          <a:lstStyle/>
          <a:p>
            <a:pPr marL="0" indent="0" algn="l">
              <a:buNone/>
            </a:pPr>
            <a:r>
              <a:rPr lang="en-US" sz="1400" dirty="0">
                <a:solidFill>
                  <a:srgbClr val="6A6256"/>
                </a:solidFill>
                <a:latin typeface="Aptos" pitchFamily="34" charset="0"/>
                <a:ea typeface="Aptos" pitchFamily="34" charset="-122"/>
                <a:cs typeface="Aptos" pitchFamily="34" charset="-120"/>
              </a:rPr>
              <a:t>Donors list available food. NGOs request servings. Coordinators prioritize collection and follow delivery progress.</a:t>
            </a:r>
            <a:endParaRPr lang="en-US" sz="1400" dirty="0"/>
          </a:p>
        </p:txBody>
      </p:sp>
      <p:sp>
        <p:nvSpPr>
          <p:cNvPr id="12" name="Text 10"/>
          <p:cNvSpPr txBox="1"/>
          <p:nvPr/>
        </p:nvSpPr>
        <p:spPr>
          <a:xfrm>
            <a:off x="749808" y="3840480"/>
            <a:ext cx="3017520" cy="228600"/>
          </a:xfrm>
          <a:prstGeom prst="rect">
            <a:avLst/>
          </a:prstGeom>
          <a:noFill/>
          <a:ln/>
        </p:spPr>
        <p:txBody>
          <a:bodyPr wrap="square" lIns="0" tIns="0" rIns="0" bIns="0" rtlCol="0" anchor="ctr">
            <a:normAutofit/>
          </a:bodyPr>
          <a:lstStyle/>
          <a:p>
            <a:pPr marL="0" indent="0" algn="l">
              <a:buNone/>
            </a:pPr>
            <a:r>
              <a:rPr lang="en-US" sz="1100" b="1" kern="0" spc="80" dirty="0">
                <a:solidFill>
                  <a:srgbClr val="BD7B1C"/>
                </a:solidFill>
                <a:latin typeface="Aptos" pitchFamily="34" charset="0"/>
                <a:ea typeface="Aptos" pitchFamily="34" charset="-122"/>
                <a:cs typeface="Aptos" pitchFamily="34" charset="-120"/>
              </a:rPr>
              <a:t>A SIMPLE, VISIBLE FLOW</a:t>
            </a:r>
            <a:endParaRPr lang="en-US" sz="1100" dirty="0"/>
          </a:p>
        </p:txBody>
      </p:sp>
      <p:sp>
        <p:nvSpPr>
          <p:cNvPr id="13" name="Shape 11"/>
          <p:cNvSpPr/>
          <p:nvPr/>
        </p:nvSpPr>
        <p:spPr>
          <a:xfrm>
            <a:off x="749808" y="4251960"/>
            <a:ext cx="2359152" cy="1078992"/>
          </a:xfrm>
          <a:prstGeom prst="roundRect">
            <a:avLst>
              <a:gd name="adj" fmla="val 6780"/>
            </a:avLst>
          </a:prstGeom>
          <a:solidFill>
            <a:srgbClr val="FFF4DC"/>
          </a:solidFill>
          <a:ln w="12700">
            <a:solidFill>
              <a:srgbClr val="DED5C6"/>
            </a:solidFill>
            <a:prstDash val="solid"/>
          </a:ln>
        </p:spPr>
      </p:sp>
      <p:sp>
        <p:nvSpPr>
          <p:cNvPr id="14" name="Text 12"/>
          <p:cNvSpPr txBox="1"/>
          <p:nvPr/>
        </p:nvSpPr>
        <p:spPr>
          <a:xfrm>
            <a:off x="896112" y="4407408"/>
            <a:ext cx="411480" cy="274320"/>
          </a:xfrm>
          <a:prstGeom prst="rect">
            <a:avLst/>
          </a:prstGeom>
          <a:noFill/>
          <a:ln/>
        </p:spPr>
        <p:txBody>
          <a:bodyPr wrap="square" lIns="0" tIns="0" rIns="0" bIns="0" rtlCol="0" anchor="ctr">
            <a:normAutofit/>
          </a:bodyPr>
          <a:lstStyle/>
          <a:p>
            <a:pPr marL="0" indent="0" algn="l">
              <a:buNone/>
            </a:pPr>
            <a:r>
              <a:rPr lang="en-US" sz="1500" b="1" dirty="0">
                <a:solidFill>
                  <a:srgbClr val="BD7B1C"/>
                </a:solidFill>
                <a:latin typeface="Aptos" pitchFamily="34" charset="0"/>
                <a:ea typeface="Aptos" pitchFamily="34" charset="-122"/>
                <a:cs typeface="Aptos" pitchFamily="34" charset="-120"/>
              </a:rPr>
              <a:t>01</a:t>
            </a:r>
            <a:endParaRPr lang="en-US" sz="1500" dirty="0"/>
          </a:p>
        </p:txBody>
      </p:sp>
      <p:sp>
        <p:nvSpPr>
          <p:cNvPr id="15" name="Text 13"/>
          <p:cNvSpPr txBox="1"/>
          <p:nvPr/>
        </p:nvSpPr>
        <p:spPr>
          <a:xfrm>
            <a:off x="896112" y="4800600"/>
            <a:ext cx="2057400" cy="320040"/>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Offer food</a:t>
            </a:r>
            <a:endParaRPr lang="en-US" sz="1600" dirty="0"/>
          </a:p>
        </p:txBody>
      </p:sp>
      <p:sp>
        <p:nvSpPr>
          <p:cNvPr id="16" name="Shape 14"/>
          <p:cNvSpPr/>
          <p:nvPr/>
        </p:nvSpPr>
        <p:spPr>
          <a:xfrm>
            <a:off x="3172968" y="4800600"/>
            <a:ext cx="338328" cy="0"/>
          </a:xfrm>
          <a:prstGeom prst="line">
            <a:avLst/>
          </a:prstGeom>
          <a:noFill/>
          <a:ln w="25400">
            <a:solidFill>
              <a:srgbClr val="6A6256"/>
            </a:solidFill>
            <a:prstDash val="solid"/>
            <a:headEnd type="none"/>
            <a:tailEnd type="triangle"/>
          </a:ln>
        </p:spPr>
      </p:sp>
      <p:sp>
        <p:nvSpPr>
          <p:cNvPr id="17" name="Shape 15"/>
          <p:cNvSpPr/>
          <p:nvPr/>
        </p:nvSpPr>
        <p:spPr>
          <a:xfrm>
            <a:off x="3602736" y="4251960"/>
            <a:ext cx="2359152" cy="1078992"/>
          </a:xfrm>
          <a:prstGeom prst="roundRect">
            <a:avLst>
              <a:gd name="adj" fmla="val 6780"/>
            </a:avLst>
          </a:prstGeom>
          <a:solidFill>
            <a:srgbClr val="EAF0F8"/>
          </a:solidFill>
          <a:ln w="12700">
            <a:solidFill>
              <a:srgbClr val="DED5C6"/>
            </a:solidFill>
            <a:prstDash val="solid"/>
          </a:ln>
        </p:spPr>
      </p:sp>
      <p:sp>
        <p:nvSpPr>
          <p:cNvPr id="18" name="Text 16"/>
          <p:cNvSpPr txBox="1"/>
          <p:nvPr/>
        </p:nvSpPr>
        <p:spPr>
          <a:xfrm>
            <a:off x="3749040" y="4407408"/>
            <a:ext cx="411480" cy="274320"/>
          </a:xfrm>
          <a:prstGeom prst="rect">
            <a:avLst/>
          </a:prstGeom>
          <a:noFill/>
          <a:ln/>
        </p:spPr>
        <p:txBody>
          <a:bodyPr wrap="square" lIns="0" tIns="0" rIns="0" bIns="0" rtlCol="0" anchor="ctr">
            <a:normAutofit/>
          </a:bodyPr>
          <a:lstStyle/>
          <a:p>
            <a:pPr marL="0" indent="0" algn="l">
              <a:buNone/>
            </a:pPr>
            <a:r>
              <a:rPr lang="en-US" sz="1500" b="1" dirty="0">
                <a:solidFill>
                  <a:srgbClr val="BD7B1C"/>
                </a:solidFill>
                <a:latin typeface="Aptos" pitchFamily="34" charset="0"/>
                <a:ea typeface="Aptos" pitchFamily="34" charset="-122"/>
                <a:cs typeface="Aptos" pitchFamily="34" charset="-120"/>
              </a:rPr>
              <a:t>02</a:t>
            </a:r>
            <a:endParaRPr lang="en-US" sz="1500" dirty="0"/>
          </a:p>
        </p:txBody>
      </p:sp>
      <p:sp>
        <p:nvSpPr>
          <p:cNvPr id="19" name="Text 17"/>
          <p:cNvSpPr txBox="1"/>
          <p:nvPr/>
        </p:nvSpPr>
        <p:spPr>
          <a:xfrm>
            <a:off x="3749040" y="4800600"/>
            <a:ext cx="2057400" cy="320040"/>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Request servings</a:t>
            </a:r>
            <a:endParaRPr lang="en-US" sz="1600" dirty="0"/>
          </a:p>
        </p:txBody>
      </p:sp>
      <p:sp>
        <p:nvSpPr>
          <p:cNvPr id="20" name="Shape 18"/>
          <p:cNvSpPr/>
          <p:nvPr/>
        </p:nvSpPr>
        <p:spPr>
          <a:xfrm>
            <a:off x="6025896" y="4800600"/>
            <a:ext cx="338328" cy="0"/>
          </a:xfrm>
          <a:prstGeom prst="line">
            <a:avLst/>
          </a:prstGeom>
          <a:noFill/>
          <a:ln w="25400">
            <a:solidFill>
              <a:srgbClr val="6A6256"/>
            </a:solidFill>
            <a:prstDash val="solid"/>
            <a:headEnd type="none"/>
            <a:tailEnd type="triangle"/>
          </a:ln>
        </p:spPr>
      </p:sp>
      <p:sp>
        <p:nvSpPr>
          <p:cNvPr id="21" name="Shape 19"/>
          <p:cNvSpPr/>
          <p:nvPr/>
        </p:nvSpPr>
        <p:spPr>
          <a:xfrm>
            <a:off x="6455664" y="4251960"/>
            <a:ext cx="2359152" cy="1078992"/>
          </a:xfrm>
          <a:prstGeom prst="roundRect">
            <a:avLst>
              <a:gd name="adj" fmla="val 6780"/>
            </a:avLst>
          </a:prstGeom>
          <a:solidFill>
            <a:srgbClr val="FFF4DC"/>
          </a:solidFill>
          <a:ln w="12700">
            <a:solidFill>
              <a:srgbClr val="DED5C6"/>
            </a:solidFill>
            <a:prstDash val="solid"/>
          </a:ln>
        </p:spPr>
      </p:sp>
      <p:sp>
        <p:nvSpPr>
          <p:cNvPr id="22" name="Text 20"/>
          <p:cNvSpPr txBox="1"/>
          <p:nvPr/>
        </p:nvSpPr>
        <p:spPr>
          <a:xfrm>
            <a:off x="6601968" y="4407408"/>
            <a:ext cx="411480" cy="274320"/>
          </a:xfrm>
          <a:prstGeom prst="rect">
            <a:avLst/>
          </a:prstGeom>
          <a:noFill/>
          <a:ln/>
        </p:spPr>
        <p:txBody>
          <a:bodyPr wrap="square" lIns="0" tIns="0" rIns="0" bIns="0" rtlCol="0" anchor="ctr">
            <a:normAutofit/>
          </a:bodyPr>
          <a:lstStyle/>
          <a:p>
            <a:pPr marL="0" indent="0" algn="l">
              <a:buNone/>
            </a:pPr>
            <a:r>
              <a:rPr lang="en-US" sz="1500" b="1" dirty="0">
                <a:solidFill>
                  <a:srgbClr val="BD7B1C"/>
                </a:solidFill>
                <a:latin typeface="Aptos" pitchFamily="34" charset="0"/>
                <a:ea typeface="Aptos" pitchFamily="34" charset="-122"/>
                <a:cs typeface="Aptos" pitchFamily="34" charset="-120"/>
              </a:rPr>
              <a:t>03</a:t>
            </a:r>
            <a:endParaRPr lang="en-US" sz="1500" dirty="0"/>
          </a:p>
        </p:txBody>
      </p:sp>
      <p:sp>
        <p:nvSpPr>
          <p:cNvPr id="23" name="Text 21"/>
          <p:cNvSpPr txBox="1"/>
          <p:nvPr/>
        </p:nvSpPr>
        <p:spPr>
          <a:xfrm>
            <a:off x="6601968" y="4800600"/>
            <a:ext cx="2057400" cy="320040"/>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Prioritize pickup</a:t>
            </a:r>
            <a:endParaRPr lang="en-US" sz="1600" dirty="0"/>
          </a:p>
        </p:txBody>
      </p:sp>
      <p:sp>
        <p:nvSpPr>
          <p:cNvPr id="24" name="Shape 22"/>
          <p:cNvSpPr/>
          <p:nvPr/>
        </p:nvSpPr>
        <p:spPr>
          <a:xfrm>
            <a:off x="8878824" y="4800600"/>
            <a:ext cx="338328" cy="0"/>
          </a:xfrm>
          <a:prstGeom prst="line">
            <a:avLst/>
          </a:prstGeom>
          <a:noFill/>
          <a:ln w="25400">
            <a:solidFill>
              <a:srgbClr val="6A6256"/>
            </a:solidFill>
            <a:prstDash val="solid"/>
            <a:headEnd type="none"/>
            <a:tailEnd type="triangle"/>
          </a:ln>
        </p:spPr>
      </p:sp>
      <p:sp>
        <p:nvSpPr>
          <p:cNvPr id="25" name="Shape 23"/>
          <p:cNvSpPr/>
          <p:nvPr/>
        </p:nvSpPr>
        <p:spPr>
          <a:xfrm>
            <a:off x="9308592" y="4251960"/>
            <a:ext cx="2359152" cy="1078992"/>
          </a:xfrm>
          <a:prstGeom prst="roundRect">
            <a:avLst>
              <a:gd name="adj" fmla="val 6780"/>
            </a:avLst>
          </a:prstGeom>
          <a:solidFill>
            <a:srgbClr val="EAF0F8"/>
          </a:solidFill>
          <a:ln w="12700">
            <a:solidFill>
              <a:srgbClr val="DED5C6"/>
            </a:solidFill>
            <a:prstDash val="solid"/>
          </a:ln>
        </p:spPr>
      </p:sp>
      <p:sp>
        <p:nvSpPr>
          <p:cNvPr id="26" name="Text 24"/>
          <p:cNvSpPr txBox="1"/>
          <p:nvPr/>
        </p:nvSpPr>
        <p:spPr>
          <a:xfrm>
            <a:off x="9454896" y="4407408"/>
            <a:ext cx="411480" cy="274320"/>
          </a:xfrm>
          <a:prstGeom prst="rect">
            <a:avLst/>
          </a:prstGeom>
          <a:noFill/>
          <a:ln/>
        </p:spPr>
        <p:txBody>
          <a:bodyPr wrap="square" lIns="0" tIns="0" rIns="0" bIns="0" rtlCol="0" anchor="ctr">
            <a:normAutofit/>
          </a:bodyPr>
          <a:lstStyle/>
          <a:p>
            <a:pPr marL="0" indent="0" algn="l">
              <a:buNone/>
            </a:pPr>
            <a:r>
              <a:rPr lang="en-US" sz="1500" b="1" dirty="0">
                <a:solidFill>
                  <a:srgbClr val="BD7B1C"/>
                </a:solidFill>
                <a:latin typeface="Aptos" pitchFamily="34" charset="0"/>
                <a:ea typeface="Aptos" pitchFamily="34" charset="-122"/>
                <a:cs typeface="Aptos" pitchFamily="34" charset="-120"/>
              </a:rPr>
              <a:t>04</a:t>
            </a:r>
            <a:endParaRPr lang="en-US" sz="1500" dirty="0"/>
          </a:p>
        </p:txBody>
      </p:sp>
      <p:sp>
        <p:nvSpPr>
          <p:cNvPr id="27" name="Text 25"/>
          <p:cNvSpPr txBox="1"/>
          <p:nvPr/>
        </p:nvSpPr>
        <p:spPr>
          <a:xfrm>
            <a:off x="9454896" y="4800600"/>
            <a:ext cx="2057400" cy="320040"/>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Track delivery</a:t>
            </a:r>
            <a:endParaRPr lang="en-US" sz="1600" dirty="0"/>
          </a:p>
        </p:txBody>
      </p:sp>
      <p:sp>
        <p:nvSpPr>
          <p:cNvPr id="28" name="Text 26"/>
          <p:cNvSpPr txBox="1"/>
          <p:nvPr/>
        </p:nvSpPr>
        <p:spPr>
          <a:xfrm>
            <a:off x="749808" y="5742432"/>
            <a:ext cx="8961120" cy="320040"/>
          </a:xfrm>
          <a:prstGeom prst="rect">
            <a:avLst/>
          </a:prstGeom>
          <a:noFill/>
          <a:ln/>
        </p:spPr>
        <p:txBody>
          <a:bodyPr wrap="square" lIns="0" tIns="0" rIns="0" bIns="0" rtlCol="0" anchor="ctr">
            <a:normAutofit/>
          </a:bodyPr>
          <a:lstStyle/>
          <a:p>
            <a:pPr marL="0" indent="0" algn="l">
              <a:buNone/>
            </a:pPr>
            <a:r>
              <a:rPr lang="en-US" sz="1600" b="1" dirty="0">
                <a:solidFill>
                  <a:srgbClr val="6A6256"/>
                </a:solidFill>
                <a:latin typeface="Aptos" pitchFamily="34" charset="0"/>
                <a:ea typeface="Aptos" pitchFamily="34" charset="-122"/>
                <a:cs typeface="Aptos" pitchFamily="34" charset="-120"/>
              </a:rPr>
              <a:t>Our focus: useful workflow + understandable C implementation</a:t>
            </a:r>
            <a:endParaRPr lang="en-US" sz="1600" dirty="0"/>
          </a:p>
        </p:txBody>
      </p:sp>
      <p:sp>
        <p:nvSpPr>
          <p:cNvPr id="29"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One donation, end to end</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Example: a hotel offers 24 breakfast packs; an NGO requests five</a:t>
            </a:r>
            <a:endParaRPr lang="en-US" sz="1250" dirty="0"/>
          </a:p>
        </p:txBody>
      </p:sp>
      <p:sp>
        <p:nvSpPr>
          <p:cNvPr id="4" name="Shape 2"/>
          <p:cNvSpPr/>
          <p:nvPr/>
        </p:nvSpPr>
        <p:spPr>
          <a:xfrm>
            <a:off x="658368" y="1600200"/>
            <a:ext cx="2441448" cy="2304288"/>
          </a:xfrm>
          <a:prstGeom prst="roundRect">
            <a:avLst>
              <a:gd name="adj" fmla="val 3175"/>
            </a:avLst>
          </a:prstGeom>
          <a:solidFill>
            <a:srgbClr val="FFF4DC"/>
          </a:solidFill>
          <a:ln w="12700">
            <a:solidFill>
              <a:srgbClr val="DED5C6"/>
            </a:solidFill>
            <a:prstDash val="solid"/>
          </a:ln>
        </p:spPr>
      </p:sp>
      <p:sp>
        <p:nvSpPr>
          <p:cNvPr id="5" name="Shape 3"/>
          <p:cNvSpPr/>
          <p:nvPr/>
        </p:nvSpPr>
        <p:spPr>
          <a:xfrm>
            <a:off x="832104" y="1810512"/>
            <a:ext cx="411480" cy="411480"/>
          </a:xfrm>
          <a:prstGeom prst="ellipse">
            <a:avLst/>
          </a:prstGeom>
          <a:solidFill>
            <a:srgbClr val="FFFFFF"/>
          </a:solidFill>
          <a:ln w="12700">
            <a:solidFill>
              <a:srgbClr val="BD7B1C"/>
            </a:solidFill>
            <a:prstDash val="solid"/>
          </a:ln>
        </p:spPr>
      </p:sp>
      <p:sp>
        <p:nvSpPr>
          <p:cNvPr id="6" name="Text 4"/>
          <p:cNvSpPr txBox="1"/>
          <p:nvPr/>
        </p:nvSpPr>
        <p:spPr>
          <a:xfrm>
            <a:off x="832104" y="1865376"/>
            <a:ext cx="411480" cy="228600"/>
          </a:xfrm>
          <a:prstGeom prst="rect">
            <a:avLst/>
          </a:prstGeom>
          <a:noFill/>
          <a:ln/>
        </p:spPr>
        <p:txBody>
          <a:bodyPr wrap="square" lIns="0" tIns="0" rIns="0" bIns="0" rtlCol="0" anchor="ctr">
            <a:normAutofit/>
          </a:bodyPr>
          <a:lstStyle/>
          <a:p>
            <a:pPr marL="0" indent="0" algn="ctr">
              <a:buNone/>
            </a:pPr>
            <a:r>
              <a:rPr lang="en-US" sz="1300" b="1" dirty="0">
                <a:solidFill>
                  <a:srgbClr val="BD7B1C"/>
                </a:solidFill>
                <a:latin typeface="Aptos" pitchFamily="34" charset="0"/>
                <a:ea typeface="Aptos" pitchFamily="34" charset="-122"/>
                <a:cs typeface="Aptos" pitchFamily="34" charset="-120"/>
              </a:rPr>
              <a:t>1</a:t>
            </a:r>
            <a:endParaRPr lang="en-US" sz="1300" dirty="0"/>
          </a:p>
        </p:txBody>
      </p:sp>
      <p:sp>
        <p:nvSpPr>
          <p:cNvPr id="7" name="Text 5"/>
          <p:cNvSpPr txBox="1"/>
          <p:nvPr/>
        </p:nvSpPr>
        <p:spPr>
          <a:xfrm>
            <a:off x="832104" y="2359152"/>
            <a:ext cx="201168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DONATE</a:t>
            </a:r>
            <a:endParaRPr lang="en-US" sz="1500" dirty="0"/>
          </a:p>
        </p:txBody>
      </p:sp>
      <p:sp>
        <p:nvSpPr>
          <p:cNvPr id="8" name="Text 6"/>
          <p:cNvSpPr txBox="1"/>
          <p:nvPr/>
        </p:nvSpPr>
        <p:spPr>
          <a:xfrm>
            <a:off x="841248" y="2770632"/>
            <a:ext cx="2011680" cy="868680"/>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Name the food</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Set servings</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Add pickup place</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Set expiry</a:t>
            </a:r>
            <a:endParaRPr lang="en-US" sz="1200" dirty="0"/>
          </a:p>
        </p:txBody>
      </p:sp>
      <p:sp>
        <p:nvSpPr>
          <p:cNvPr id="9" name="Shape 7"/>
          <p:cNvSpPr/>
          <p:nvPr/>
        </p:nvSpPr>
        <p:spPr>
          <a:xfrm>
            <a:off x="3154680" y="2697480"/>
            <a:ext cx="310896" cy="0"/>
          </a:xfrm>
          <a:prstGeom prst="line">
            <a:avLst/>
          </a:prstGeom>
          <a:noFill/>
          <a:ln w="25400">
            <a:solidFill>
              <a:srgbClr val="BD7B1C"/>
            </a:solidFill>
            <a:prstDash val="solid"/>
            <a:headEnd type="none"/>
            <a:tailEnd type="triangle"/>
          </a:ln>
        </p:spPr>
      </p:sp>
      <p:sp>
        <p:nvSpPr>
          <p:cNvPr id="10" name="Shape 8"/>
          <p:cNvSpPr/>
          <p:nvPr/>
        </p:nvSpPr>
        <p:spPr>
          <a:xfrm>
            <a:off x="3538728" y="1600200"/>
            <a:ext cx="2441448" cy="2304288"/>
          </a:xfrm>
          <a:prstGeom prst="roundRect">
            <a:avLst>
              <a:gd name="adj" fmla="val 3175"/>
            </a:avLst>
          </a:prstGeom>
          <a:solidFill>
            <a:srgbClr val="EAF0F8"/>
          </a:solidFill>
          <a:ln w="12700">
            <a:solidFill>
              <a:srgbClr val="DED5C6"/>
            </a:solidFill>
            <a:prstDash val="solid"/>
          </a:ln>
        </p:spPr>
      </p:sp>
      <p:sp>
        <p:nvSpPr>
          <p:cNvPr id="11" name="Shape 9"/>
          <p:cNvSpPr/>
          <p:nvPr/>
        </p:nvSpPr>
        <p:spPr>
          <a:xfrm>
            <a:off x="3712464" y="1810512"/>
            <a:ext cx="411480" cy="411480"/>
          </a:xfrm>
          <a:prstGeom prst="ellipse">
            <a:avLst/>
          </a:prstGeom>
          <a:solidFill>
            <a:srgbClr val="FFFFFF"/>
          </a:solidFill>
          <a:ln w="12700">
            <a:solidFill>
              <a:srgbClr val="BD7B1C"/>
            </a:solidFill>
            <a:prstDash val="solid"/>
          </a:ln>
        </p:spPr>
      </p:sp>
      <p:sp>
        <p:nvSpPr>
          <p:cNvPr id="12" name="Text 10"/>
          <p:cNvSpPr txBox="1"/>
          <p:nvPr/>
        </p:nvSpPr>
        <p:spPr>
          <a:xfrm>
            <a:off x="3712464" y="1865376"/>
            <a:ext cx="411480" cy="228600"/>
          </a:xfrm>
          <a:prstGeom prst="rect">
            <a:avLst/>
          </a:prstGeom>
          <a:noFill/>
          <a:ln/>
        </p:spPr>
        <p:txBody>
          <a:bodyPr wrap="square" lIns="0" tIns="0" rIns="0" bIns="0" rtlCol="0" anchor="ctr">
            <a:normAutofit/>
          </a:bodyPr>
          <a:lstStyle/>
          <a:p>
            <a:pPr marL="0" indent="0" algn="ctr">
              <a:buNone/>
            </a:pPr>
            <a:r>
              <a:rPr lang="en-US" sz="1300" b="1" dirty="0">
                <a:solidFill>
                  <a:srgbClr val="BD7B1C"/>
                </a:solidFill>
                <a:latin typeface="Aptos" pitchFamily="34" charset="0"/>
                <a:ea typeface="Aptos" pitchFamily="34" charset="-122"/>
                <a:cs typeface="Aptos" pitchFamily="34" charset="-120"/>
              </a:rPr>
              <a:t>2</a:t>
            </a:r>
            <a:endParaRPr lang="en-US" sz="1300" dirty="0"/>
          </a:p>
        </p:txBody>
      </p:sp>
      <p:sp>
        <p:nvSpPr>
          <p:cNvPr id="13" name="Text 11"/>
          <p:cNvSpPr txBox="1"/>
          <p:nvPr/>
        </p:nvSpPr>
        <p:spPr>
          <a:xfrm>
            <a:off x="3712464" y="2359152"/>
            <a:ext cx="201168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REQUEST</a:t>
            </a:r>
            <a:endParaRPr lang="en-US" sz="1500" dirty="0"/>
          </a:p>
        </p:txBody>
      </p:sp>
      <p:sp>
        <p:nvSpPr>
          <p:cNvPr id="14" name="Text 12"/>
          <p:cNvSpPr txBox="1"/>
          <p:nvPr/>
        </p:nvSpPr>
        <p:spPr>
          <a:xfrm>
            <a:off x="3721608" y="2770632"/>
            <a:ext cx="2011680" cy="868680"/>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NGO selects offer</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Choose quantity</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C checks availability</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Request joins line</a:t>
            </a:r>
            <a:endParaRPr lang="en-US" sz="1200" dirty="0"/>
          </a:p>
        </p:txBody>
      </p:sp>
      <p:sp>
        <p:nvSpPr>
          <p:cNvPr id="15" name="Shape 13"/>
          <p:cNvSpPr/>
          <p:nvPr/>
        </p:nvSpPr>
        <p:spPr>
          <a:xfrm>
            <a:off x="6035040" y="2697480"/>
            <a:ext cx="310896" cy="0"/>
          </a:xfrm>
          <a:prstGeom prst="line">
            <a:avLst/>
          </a:prstGeom>
          <a:noFill/>
          <a:ln w="25400">
            <a:solidFill>
              <a:srgbClr val="BD7B1C"/>
            </a:solidFill>
            <a:prstDash val="solid"/>
            <a:headEnd type="none"/>
            <a:tailEnd type="triangle"/>
          </a:ln>
        </p:spPr>
      </p:sp>
      <p:sp>
        <p:nvSpPr>
          <p:cNvPr id="16" name="Shape 14"/>
          <p:cNvSpPr/>
          <p:nvPr/>
        </p:nvSpPr>
        <p:spPr>
          <a:xfrm>
            <a:off x="6419088" y="1600200"/>
            <a:ext cx="2441448" cy="2304288"/>
          </a:xfrm>
          <a:prstGeom prst="roundRect">
            <a:avLst>
              <a:gd name="adj" fmla="val 3175"/>
            </a:avLst>
          </a:prstGeom>
          <a:solidFill>
            <a:srgbClr val="E8F1E3"/>
          </a:solidFill>
          <a:ln w="12700">
            <a:solidFill>
              <a:srgbClr val="DED5C6"/>
            </a:solidFill>
            <a:prstDash val="solid"/>
          </a:ln>
        </p:spPr>
      </p:sp>
      <p:sp>
        <p:nvSpPr>
          <p:cNvPr id="17" name="Shape 15"/>
          <p:cNvSpPr/>
          <p:nvPr/>
        </p:nvSpPr>
        <p:spPr>
          <a:xfrm>
            <a:off x="6592824" y="1810512"/>
            <a:ext cx="411480" cy="411480"/>
          </a:xfrm>
          <a:prstGeom prst="ellipse">
            <a:avLst/>
          </a:prstGeom>
          <a:solidFill>
            <a:srgbClr val="FFFFFF"/>
          </a:solidFill>
          <a:ln w="12700">
            <a:solidFill>
              <a:srgbClr val="BD7B1C"/>
            </a:solidFill>
            <a:prstDash val="solid"/>
          </a:ln>
        </p:spPr>
      </p:sp>
      <p:sp>
        <p:nvSpPr>
          <p:cNvPr id="18" name="Text 16"/>
          <p:cNvSpPr txBox="1"/>
          <p:nvPr/>
        </p:nvSpPr>
        <p:spPr>
          <a:xfrm>
            <a:off x="6592824" y="1865376"/>
            <a:ext cx="411480" cy="228600"/>
          </a:xfrm>
          <a:prstGeom prst="rect">
            <a:avLst/>
          </a:prstGeom>
          <a:noFill/>
          <a:ln/>
        </p:spPr>
        <p:txBody>
          <a:bodyPr wrap="square" lIns="0" tIns="0" rIns="0" bIns="0" rtlCol="0" anchor="ctr">
            <a:normAutofit/>
          </a:bodyPr>
          <a:lstStyle/>
          <a:p>
            <a:pPr marL="0" indent="0" algn="ctr">
              <a:buNone/>
            </a:pPr>
            <a:r>
              <a:rPr lang="en-US" sz="1300" b="1" dirty="0">
                <a:solidFill>
                  <a:srgbClr val="BD7B1C"/>
                </a:solidFill>
                <a:latin typeface="Aptos" pitchFamily="34" charset="0"/>
                <a:ea typeface="Aptos" pitchFamily="34" charset="-122"/>
                <a:cs typeface="Aptos" pitchFamily="34" charset="-120"/>
              </a:rPr>
              <a:t>3</a:t>
            </a:r>
            <a:endParaRPr lang="en-US" sz="1300" dirty="0"/>
          </a:p>
        </p:txBody>
      </p:sp>
      <p:sp>
        <p:nvSpPr>
          <p:cNvPr id="19" name="Text 17"/>
          <p:cNvSpPr txBox="1"/>
          <p:nvPr/>
        </p:nvSpPr>
        <p:spPr>
          <a:xfrm>
            <a:off x="6592824" y="2359152"/>
            <a:ext cx="201168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DISPATCH</a:t>
            </a:r>
            <a:endParaRPr lang="en-US" sz="1500" dirty="0"/>
          </a:p>
        </p:txBody>
      </p:sp>
      <p:sp>
        <p:nvSpPr>
          <p:cNvPr id="20" name="Text 18"/>
          <p:cNvSpPr txBox="1"/>
          <p:nvPr/>
        </p:nvSpPr>
        <p:spPr>
          <a:xfrm>
            <a:off x="6601968" y="2770632"/>
            <a:ext cx="2011680" cy="868680"/>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Urgent pickup moves up</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Coordinator reviews</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Approve next request</a:t>
            </a:r>
            <a:endParaRPr lang="en-US" sz="1200" dirty="0"/>
          </a:p>
        </p:txBody>
      </p:sp>
      <p:sp>
        <p:nvSpPr>
          <p:cNvPr id="21" name="Shape 19"/>
          <p:cNvSpPr/>
          <p:nvPr/>
        </p:nvSpPr>
        <p:spPr>
          <a:xfrm>
            <a:off x="8915400" y="2697480"/>
            <a:ext cx="310896" cy="0"/>
          </a:xfrm>
          <a:prstGeom prst="line">
            <a:avLst/>
          </a:prstGeom>
          <a:noFill/>
          <a:ln w="25400">
            <a:solidFill>
              <a:srgbClr val="BD7B1C"/>
            </a:solidFill>
            <a:prstDash val="solid"/>
            <a:headEnd type="none"/>
            <a:tailEnd type="triangle"/>
          </a:ln>
        </p:spPr>
      </p:sp>
      <p:sp>
        <p:nvSpPr>
          <p:cNvPr id="22" name="Shape 20"/>
          <p:cNvSpPr/>
          <p:nvPr/>
        </p:nvSpPr>
        <p:spPr>
          <a:xfrm>
            <a:off x="9299448" y="1600200"/>
            <a:ext cx="2441448" cy="2304288"/>
          </a:xfrm>
          <a:prstGeom prst="roundRect">
            <a:avLst>
              <a:gd name="adj" fmla="val 3175"/>
            </a:avLst>
          </a:prstGeom>
          <a:solidFill>
            <a:srgbClr val="FFF4DC"/>
          </a:solidFill>
          <a:ln w="12700">
            <a:solidFill>
              <a:srgbClr val="DED5C6"/>
            </a:solidFill>
            <a:prstDash val="solid"/>
          </a:ln>
        </p:spPr>
      </p:sp>
      <p:sp>
        <p:nvSpPr>
          <p:cNvPr id="23" name="Shape 21"/>
          <p:cNvSpPr/>
          <p:nvPr/>
        </p:nvSpPr>
        <p:spPr>
          <a:xfrm>
            <a:off x="9473184" y="1810512"/>
            <a:ext cx="411480" cy="411480"/>
          </a:xfrm>
          <a:prstGeom prst="ellipse">
            <a:avLst/>
          </a:prstGeom>
          <a:solidFill>
            <a:srgbClr val="FFFFFF"/>
          </a:solidFill>
          <a:ln w="12700">
            <a:solidFill>
              <a:srgbClr val="BD7B1C"/>
            </a:solidFill>
            <a:prstDash val="solid"/>
          </a:ln>
        </p:spPr>
      </p:sp>
      <p:sp>
        <p:nvSpPr>
          <p:cNvPr id="24" name="Text 22"/>
          <p:cNvSpPr txBox="1"/>
          <p:nvPr/>
        </p:nvSpPr>
        <p:spPr>
          <a:xfrm>
            <a:off x="9473184" y="1865376"/>
            <a:ext cx="411480" cy="228600"/>
          </a:xfrm>
          <a:prstGeom prst="rect">
            <a:avLst/>
          </a:prstGeom>
          <a:noFill/>
          <a:ln/>
        </p:spPr>
        <p:txBody>
          <a:bodyPr wrap="square" lIns="0" tIns="0" rIns="0" bIns="0" rtlCol="0" anchor="ctr">
            <a:normAutofit/>
          </a:bodyPr>
          <a:lstStyle/>
          <a:p>
            <a:pPr marL="0" indent="0" algn="ctr">
              <a:buNone/>
            </a:pPr>
            <a:r>
              <a:rPr lang="en-US" sz="1300" b="1" dirty="0">
                <a:solidFill>
                  <a:srgbClr val="BD7B1C"/>
                </a:solidFill>
                <a:latin typeface="Aptos" pitchFamily="34" charset="0"/>
                <a:ea typeface="Aptos" pitchFamily="34" charset="-122"/>
                <a:cs typeface="Aptos" pitchFamily="34" charset="-120"/>
              </a:rPr>
              <a:t>4</a:t>
            </a:r>
            <a:endParaRPr lang="en-US" sz="1300" dirty="0"/>
          </a:p>
        </p:txBody>
      </p:sp>
      <p:sp>
        <p:nvSpPr>
          <p:cNvPr id="25" name="Text 23"/>
          <p:cNvSpPr txBox="1"/>
          <p:nvPr/>
        </p:nvSpPr>
        <p:spPr>
          <a:xfrm>
            <a:off x="9473184" y="2359152"/>
            <a:ext cx="201168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DELIVER</a:t>
            </a:r>
            <a:endParaRPr lang="en-US" sz="1500" dirty="0"/>
          </a:p>
        </p:txBody>
      </p:sp>
      <p:sp>
        <p:nvSpPr>
          <p:cNvPr id="26" name="Text 24"/>
          <p:cNvSpPr txBox="1"/>
          <p:nvPr/>
        </p:nvSpPr>
        <p:spPr>
          <a:xfrm>
            <a:off x="9482328" y="2770632"/>
            <a:ext cx="2011680" cy="868680"/>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Advance each milestone</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Update food status</a:t>
            </a:r>
            <a:endParaRPr lang="en-US" sz="1200" dirty="0"/>
          </a:p>
          <a:p>
            <a:pPr marL="0" indent="0" algn="l">
              <a:buNone/>
            </a:pPr>
            <a:r>
              <a:rPr lang="en-US" sz="1200" dirty="0">
                <a:solidFill>
                  <a:srgbClr val="6A6256"/>
                </a:solidFill>
                <a:latin typeface="Aptos" pitchFamily="34" charset="0"/>
                <a:ea typeface="Aptos" pitchFamily="34" charset="-122"/>
                <a:cs typeface="Aptos" pitchFamily="34" charset="-120"/>
              </a:rPr>
              <a:t>Show route progress</a:t>
            </a:r>
            <a:endParaRPr lang="en-US" sz="1200" dirty="0"/>
          </a:p>
        </p:txBody>
      </p:sp>
      <p:sp>
        <p:nvSpPr>
          <p:cNvPr id="27" name="Text 25"/>
          <p:cNvSpPr txBox="1"/>
          <p:nvPr/>
        </p:nvSpPr>
        <p:spPr>
          <a:xfrm>
            <a:off x="777240" y="4389120"/>
            <a:ext cx="1188720" cy="256032"/>
          </a:xfrm>
          <a:prstGeom prst="rect">
            <a:avLst/>
          </a:prstGeom>
          <a:noFill/>
          <a:ln/>
        </p:spPr>
        <p:txBody>
          <a:bodyPr wrap="square" lIns="0" tIns="0" rIns="0" bIns="0" rtlCol="0" anchor="ctr">
            <a:normAutofit/>
          </a:bodyPr>
          <a:lstStyle/>
          <a:p>
            <a:pPr marL="0" indent="0" algn="l">
              <a:buNone/>
            </a:pPr>
            <a:r>
              <a:rPr lang="en-US" sz="1200" b="1" dirty="0">
                <a:solidFill>
                  <a:srgbClr val="6A6256"/>
                </a:solidFill>
                <a:latin typeface="Aptos" pitchFamily="34" charset="0"/>
                <a:ea typeface="Aptos" pitchFamily="34" charset="-122"/>
                <a:cs typeface="Aptos" pitchFamily="34" charset="-120"/>
              </a:rPr>
              <a:t>Food status</a:t>
            </a:r>
            <a:endParaRPr lang="en-US" sz="1200" dirty="0"/>
          </a:p>
        </p:txBody>
      </p:sp>
      <p:sp>
        <p:nvSpPr>
          <p:cNvPr id="28" name="Shape 26"/>
          <p:cNvSpPr/>
          <p:nvPr/>
        </p:nvSpPr>
        <p:spPr>
          <a:xfrm>
            <a:off x="1965960" y="4270248"/>
            <a:ext cx="1856232" cy="566928"/>
          </a:xfrm>
          <a:prstGeom prst="roundRect">
            <a:avLst>
              <a:gd name="adj" fmla="val 12903"/>
            </a:avLst>
          </a:prstGeom>
          <a:solidFill>
            <a:srgbClr val="FFFFFF"/>
          </a:solidFill>
          <a:ln w="12700">
            <a:solidFill>
              <a:srgbClr val="DED5C6"/>
            </a:solidFill>
            <a:prstDash val="solid"/>
          </a:ln>
        </p:spPr>
      </p:sp>
      <p:sp>
        <p:nvSpPr>
          <p:cNvPr id="29" name="Text 27"/>
          <p:cNvSpPr txBox="1"/>
          <p:nvPr/>
        </p:nvSpPr>
        <p:spPr>
          <a:xfrm>
            <a:off x="2039112" y="4416552"/>
            <a:ext cx="1709928" cy="228600"/>
          </a:xfrm>
          <a:prstGeom prst="rect">
            <a:avLst/>
          </a:prstGeom>
          <a:noFill/>
          <a:ln/>
        </p:spPr>
        <p:txBody>
          <a:bodyPr wrap="square" lIns="0" tIns="0" rIns="0" bIns="0" rtlCol="0" anchor="ctr">
            <a:normAutofit/>
          </a:bodyPr>
          <a:lstStyle/>
          <a:p>
            <a:pPr marL="0" indent="0" algn="ctr">
              <a:buNone/>
            </a:pPr>
            <a:r>
              <a:rPr lang="en-US" sz="1150" b="1" dirty="0">
                <a:solidFill>
                  <a:srgbClr val="29261F"/>
                </a:solidFill>
                <a:latin typeface="Aptos" pitchFamily="34" charset="0"/>
                <a:ea typeface="Aptos" pitchFamily="34" charset="-122"/>
                <a:cs typeface="Aptos" pitchFamily="34" charset="-120"/>
              </a:rPr>
              <a:t>AVAILABLE</a:t>
            </a:r>
            <a:endParaRPr lang="en-US" sz="1150" dirty="0"/>
          </a:p>
        </p:txBody>
      </p:sp>
      <p:sp>
        <p:nvSpPr>
          <p:cNvPr id="30" name="Shape 28"/>
          <p:cNvSpPr/>
          <p:nvPr/>
        </p:nvSpPr>
        <p:spPr>
          <a:xfrm>
            <a:off x="3858768" y="4553712"/>
            <a:ext cx="356616" cy="0"/>
          </a:xfrm>
          <a:prstGeom prst="line">
            <a:avLst/>
          </a:prstGeom>
          <a:noFill/>
          <a:ln w="25400">
            <a:solidFill>
              <a:srgbClr val="6A6256"/>
            </a:solidFill>
            <a:prstDash val="solid"/>
            <a:headEnd type="none"/>
            <a:tailEnd type="triangle"/>
          </a:ln>
        </p:spPr>
      </p:sp>
      <p:sp>
        <p:nvSpPr>
          <p:cNvPr id="31" name="Shape 29"/>
          <p:cNvSpPr/>
          <p:nvPr/>
        </p:nvSpPr>
        <p:spPr>
          <a:xfrm>
            <a:off x="4297680" y="4270248"/>
            <a:ext cx="1856232" cy="566928"/>
          </a:xfrm>
          <a:prstGeom prst="roundRect">
            <a:avLst>
              <a:gd name="adj" fmla="val 12903"/>
            </a:avLst>
          </a:prstGeom>
          <a:solidFill>
            <a:srgbClr val="FFFFFF"/>
          </a:solidFill>
          <a:ln w="12700">
            <a:solidFill>
              <a:srgbClr val="DED5C6"/>
            </a:solidFill>
            <a:prstDash val="solid"/>
          </a:ln>
        </p:spPr>
      </p:sp>
      <p:sp>
        <p:nvSpPr>
          <p:cNvPr id="32" name="Text 30"/>
          <p:cNvSpPr txBox="1"/>
          <p:nvPr/>
        </p:nvSpPr>
        <p:spPr>
          <a:xfrm>
            <a:off x="4370832" y="4416552"/>
            <a:ext cx="1709928" cy="228600"/>
          </a:xfrm>
          <a:prstGeom prst="rect">
            <a:avLst/>
          </a:prstGeom>
          <a:noFill/>
          <a:ln/>
        </p:spPr>
        <p:txBody>
          <a:bodyPr wrap="square" lIns="0" tIns="0" rIns="0" bIns="0" rtlCol="0" anchor="ctr">
            <a:normAutofit/>
          </a:bodyPr>
          <a:lstStyle/>
          <a:p>
            <a:pPr marL="0" indent="0" algn="ctr">
              <a:buNone/>
            </a:pPr>
            <a:r>
              <a:rPr lang="en-US" sz="1150" b="1" dirty="0">
                <a:solidFill>
                  <a:srgbClr val="29261F"/>
                </a:solidFill>
                <a:latin typeface="Aptos" pitchFamily="34" charset="0"/>
                <a:ea typeface="Aptos" pitchFamily="34" charset="-122"/>
                <a:cs typeface="Aptos" pitchFamily="34" charset="-120"/>
              </a:rPr>
              <a:t>CLAIMED</a:t>
            </a:r>
            <a:endParaRPr lang="en-US" sz="1150" dirty="0"/>
          </a:p>
        </p:txBody>
      </p:sp>
      <p:sp>
        <p:nvSpPr>
          <p:cNvPr id="33" name="Shape 31"/>
          <p:cNvSpPr/>
          <p:nvPr/>
        </p:nvSpPr>
        <p:spPr>
          <a:xfrm>
            <a:off x="6190488" y="4553712"/>
            <a:ext cx="356616" cy="0"/>
          </a:xfrm>
          <a:prstGeom prst="line">
            <a:avLst/>
          </a:prstGeom>
          <a:noFill/>
          <a:ln w="25400">
            <a:solidFill>
              <a:srgbClr val="6A6256"/>
            </a:solidFill>
            <a:prstDash val="solid"/>
            <a:headEnd type="none"/>
            <a:tailEnd type="triangle"/>
          </a:ln>
        </p:spPr>
      </p:sp>
      <p:sp>
        <p:nvSpPr>
          <p:cNvPr id="34" name="Shape 32"/>
          <p:cNvSpPr/>
          <p:nvPr/>
        </p:nvSpPr>
        <p:spPr>
          <a:xfrm>
            <a:off x="6629400" y="4270248"/>
            <a:ext cx="1856232" cy="566928"/>
          </a:xfrm>
          <a:prstGeom prst="roundRect">
            <a:avLst>
              <a:gd name="adj" fmla="val 12903"/>
            </a:avLst>
          </a:prstGeom>
          <a:solidFill>
            <a:srgbClr val="FFFFFF"/>
          </a:solidFill>
          <a:ln w="12700">
            <a:solidFill>
              <a:srgbClr val="DED5C6"/>
            </a:solidFill>
            <a:prstDash val="solid"/>
          </a:ln>
        </p:spPr>
      </p:sp>
      <p:sp>
        <p:nvSpPr>
          <p:cNvPr id="35" name="Text 33"/>
          <p:cNvSpPr txBox="1"/>
          <p:nvPr/>
        </p:nvSpPr>
        <p:spPr>
          <a:xfrm>
            <a:off x="6702552" y="4416552"/>
            <a:ext cx="1709928" cy="228600"/>
          </a:xfrm>
          <a:prstGeom prst="rect">
            <a:avLst/>
          </a:prstGeom>
          <a:noFill/>
          <a:ln/>
        </p:spPr>
        <p:txBody>
          <a:bodyPr wrap="square" lIns="0" tIns="0" rIns="0" bIns="0" rtlCol="0" anchor="ctr">
            <a:normAutofit/>
          </a:bodyPr>
          <a:lstStyle/>
          <a:p>
            <a:pPr marL="0" indent="0" algn="ctr">
              <a:buNone/>
            </a:pPr>
            <a:r>
              <a:rPr lang="en-US" sz="1150" b="1" dirty="0">
                <a:solidFill>
                  <a:srgbClr val="29261F"/>
                </a:solidFill>
                <a:latin typeface="Aptos" pitchFamily="34" charset="0"/>
                <a:ea typeface="Aptos" pitchFamily="34" charset="-122"/>
                <a:cs typeface="Aptos" pitchFamily="34" charset="-120"/>
              </a:rPr>
              <a:t>COLLECTED</a:t>
            </a:r>
            <a:endParaRPr lang="en-US" sz="1150" dirty="0"/>
          </a:p>
        </p:txBody>
      </p:sp>
      <p:sp>
        <p:nvSpPr>
          <p:cNvPr id="36" name="Shape 34"/>
          <p:cNvSpPr/>
          <p:nvPr/>
        </p:nvSpPr>
        <p:spPr>
          <a:xfrm>
            <a:off x="8522208" y="4553712"/>
            <a:ext cx="356616" cy="0"/>
          </a:xfrm>
          <a:prstGeom prst="line">
            <a:avLst/>
          </a:prstGeom>
          <a:noFill/>
          <a:ln w="25400">
            <a:solidFill>
              <a:srgbClr val="6A6256"/>
            </a:solidFill>
            <a:prstDash val="solid"/>
            <a:headEnd type="none"/>
            <a:tailEnd type="triangle"/>
          </a:ln>
        </p:spPr>
      </p:sp>
      <p:sp>
        <p:nvSpPr>
          <p:cNvPr id="37" name="Shape 35"/>
          <p:cNvSpPr/>
          <p:nvPr/>
        </p:nvSpPr>
        <p:spPr>
          <a:xfrm>
            <a:off x="8961120" y="4270248"/>
            <a:ext cx="1856232" cy="566928"/>
          </a:xfrm>
          <a:prstGeom prst="roundRect">
            <a:avLst>
              <a:gd name="adj" fmla="val 12903"/>
            </a:avLst>
          </a:prstGeom>
          <a:solidFill>
            <a:srgbClr val="E8F1E3"/>
          </a:solidFill>
          <a:ln w="12700">
            <a:solidFill>
              <a:srgbClr val="DED5C6"/>
            </a:solidFill>
            <a:prstDash val="solid"/>
          </a:ln>
        </p:spPr>
      </p:sp>
      <p:sp>
        <p:nvSpPr>
          <p:cNvPr id="38" name="Text 36"/>
          <p:cNvSpPr txBox="1"/>
          <p:nvPr/>
        </p:nvSpPr>
        <p:spPr>
          <a:xfrm>
            <a:off x="9034272" y="4416552"/>
            <a:ext cx="1709928" cy="228600"/>
          </a:xfrm>
          <a:prstGeom prst="rect">
            <a:avLst/>
          </a:prstGeom>
          <a:noFill/>
          <a:ln/>
        </p:spPr>
        <p:txBody>
          <a:bodyPr wrap="square" lIns="0" tIns="0" rIns="0" bIns="0" rtlCol="0" anchor="ctr">
            <a:normAutofit/>
          </a:bodyPr>
          <a:lstStyle/>
          <a:p>
            <a:pPr marL="0" indent="0" algn="ctr">
              <a:buNone/>
            </a:pPr>
            <a:r>
              <a:rPr lang="en-US" sz="1150" b="1" dirty="0">
                <a:solidFill>
                  <a:srgbClr val="35512D"/>
                </a:solidFill>
                <a:latin typeface="Aptos" pitchFamily="34" charset="0"/>
                <a:ea typeface="Aptos" pitchFamily="34" charset="-122"/>
                <a:cs typeface="Aptos" pitchFamily="34" charset="-120"/>
              </a:rPr>
              <a:t>DISTRIBUTED</a:t>
            </a:r>
            <a:endParaRPr lang="en-US" sz="1150" dirty="0"/>
          </a:p>
        </p:txBody>
      </p:sp>
      <p:sp>
        <p:nvSpPr>
          <p:cNvPr id="39" name="Shape 37"/>
          <p:cNvSpPr/>
          <p:nvPr/>
        </p:nvSpPr>
        <p:spPr>
          <a:xfrm>
            <a:off x="777240" y="5166360"/>
            <a:ext cx="10652760" cy="822960"/>
          </a:xfrm>
          <a:prstGeom prst="roundRect">
            <a:avLst>
              <a:gd name="adj" fmla="val 8889"/>
            </a:avLst>
          </a:prstGeom>
          <a:solidFill>
            <a:srgbClr val="FFFFFF"/>
          </a:solidFill>
          <a:ln w="12700">
            <a:solidFill>
              <a:srgbClr val="DED5C6"/>
            </a:solidFill>
            <a:prstDash val="solid"/>
          </a:ln>
        </p:spPr>
      </p:sp>
      <p:sp>
        <p:nvSpPr>
          <p:cNvPr id="40" name="Shape 38"/>
          <p:cNvSpPr/>
          <p:nvPr/>
        </p:nvSpPr>
        <p:spPr>
          <a:xfrm>
            <a:off x="923544" y="5349240"/>
            <a:ext cx="82296" cy="457200"/>
          </a:xfrm>
          <a:prstGeom prst="roundRect">
            <a:avLst/>
          </a:prstGeom>
          <a:solidFill>
            <a:srgbClr val="BD7B1C"/>
          </a:solidFill>
          <a:ln w="12700">
            <a:solidFill>
              <a:srgbClr val="BD7B1C">
                <a:alpha val="0"/>
              </a:srgbClr>
            </a:solidFill>
            <a:prstDash val="solid"/>
          </a:ln>
        </p:spPr>
      </p:sp>
      <p:sp>
        <p:nvSpPr>
          <p:cNvPr id="41" name="Text 39"/>
          <p:cNvSpPr txBox="1"/>
          <p:nvPr/>
        </p:nvSpPr>
        <p:spPr>
          <a:xfrm>
            <a:off x="1133856" y="5299508"/>
            <a:ext cx="10094976" cy="347472"/>
          </a:xfrm>
          <a:prstGeom prst="rect">
            <a:avLst/>
          </a:prstGeom>
          <a:noFill/>
          <a:ln/>
        </p:spPr>
        <p:txBody>
          <a:bodyPr wrap="square" lIns="0" tIns="0" rIns="0" bIns="0" rtlCol="0" anchor="ctr">
            <a:normAutofit/>
          </a:bodyPr>
          <a:lstStyle/>
          <a:p>
            <a:pPr marL="0" indent="0" algn="l">
              <a:buNone/>
            </a:pPr>
            <a:r>
              <a:rPr lang="en-US" sz="1400" b="1" dirty="0">
                <a:solidFill>
                  <a:srgbClr val="29261F"/>
                </a:solidFill>
                <a:latin typeface="Aptos" pitchFamily="34" charset="0"/>
                <a:ea typeface="Aptos" pitchFamily="34" charset="-122"/>
                <a:cs typeface="Aptos" pitchFamily="34" charset="-120"/>
              </a:rPr>
              <a:t>The point</a:t>
            </a:r>
            <a:endParaRPr lang="en-US" sz="1400" dirty="0"/>
          </a:p>
        </p:txBody>
      </p:sp>
      <p:sp>
        <p:nvSpPr>
          <p:cNvPr id="42" name="Text 40"/>
          <p:cNvSpPr txBox="1"/>
          <p:nvPr/>
        </p:nvSpPr>
        <p:spPr>
          <a:xfrm>
            <a:off x="1129284" y="5590990"/>
            <a:ext cx="10049256" cy="193951"/>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Each button press updates both the displayed workflow and the C structures that support it.</a:t>
            </a:r>
            <a:endParaRPr lang="en-US" sz="1200" dirty="0"/>
          </a:p>
        </p:txBody>
      </p:sp>
      <p:sp>
        <p:nvSpPr>
          <p:cNvPr id="43"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How the pieces fit together</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The browser shows it; the C backend runs the shared workflow</a:t>
            </a:r>
            <a:endParaRPr lang="en-US" sz="1250" dirty="0"/>
          </a:p>
        </p:txBody>
      </p:sp>
      <p:sp>
        <p:nvSpPr>
          <p:cNvPr id="4" name="Shape 2"/>
          <p:cNvSpPr/>
          <p:nvPr/>
        </p:nvSpPr>
        <p:spPr>
          <a:xfrm>
            <a:off x="658368" y="1874520"/>
            <a:ext cx="2971800" cy="1508760"/>
          </a:xfrm>
          <a:prstGeom prst="roundRect">
            <a:avLst>
              <a:gd name="adj" fmla="val 4848"/>
            </a:avLst>
          </a:prstGeom>
          <a:solidFill>
            <a:srgbClr val="EAF0F8"/>
          </a:solidFill>
          <a:ln w="12700">
            <a:solidFill>
              <a:srgbClr val="DED5C6"/>
            </a:solidFill>
            <a:prstDash val="solid"/>
          </a:ln>
        </p:spPr>
      </p:sp>
      <p:sp>
        <p:nvSpPr>
          <p:cNvPr id="5" name="Text 3"/>
          <p:cNvSpPr txBox="1"/>
          <p:nvPr/>
        </p:nvSpPr>
        <p:spPr>
          <a:xfrm>
            <a:off x="859536" y="2075688"/>
            <a:ext cx="2560320" cy="274320"/>
          </a:xfrm>
          <a:prstGeom prst="rect">
            <a:avLst/>
          </a:prstGeom>
          <a:noFill/>
          <a:ln/>
        </p:spPr>
        <p:txBody>
          <a:bodyPr wrap="square" lIns="0" tIns="0" rIns="0" bIns="0" rtlCol="0" anchor="ctr">
            <a:normAutofit/>
          </a:bodyPr>
          <a:lstStyle/>
          <a:p>
            <a:pPr marL="0" indent="0" algn="l">
              <a:buNone/>
            </a:pPr>
            <a:r>
              <a:rPr lang="en-US" sz="1200" b="1" kern="0" spc="70" dirty="0">
                <a:solidFill>
                  <a:srgbClr val="BD7B1C"/>
                </a:solidFill>
                <a:latin typeface="Aptos" pitchFamily="34" charset="0"/>
                <a:ea typeface="Aptos" pitchFamily="34" charset="-122"/>
                <a:cs typeface="Aptos" pitchFamily="34" charset="-120"/>
              </a:rPr>
              <a:t>BROWSER</a:t>
            </a:r>
            <a:endParaRPr lang="en-US" sz="1200" dirty="0"/>
          </a:p>
        </p:txBody>
      </p:sp>
      <p:sp>
        <p:nvSpPr>
          <p:cNvPr id="6" name="Text 4"/>
          <p:cNvSpPr txBox="1"/>
          <p:nvPr/>
        </p:nvSpPr>
        <p:spPr>
          <a:xfrm>
            <a:off x="859536" y="2496312"/>
            <a:ext cx="2578608" cy="365760"/>
          </a:xfrm>
          <a:prstGeom prst="rect">
            <a:avLst/>
          </a:prstGeom>
          <a:noFill/>
          <a:ln/>
        </p:spPr>
        <p:txBody>
          <a:bodyPr wrap="square" lIns="0" tIns="0" rIns="0" bIns="0" rtlCol="0" anchor="ctr">
            <a:normAutofit/>
          </a:bodyPr>
          <a:lstStyle/>
          <a:p>
            <a:pPr marL="0" indent="0" algn="l">
              <a:buNone/>
            </a:pPr>
            <a:r>
              <a:rPr lang="en-US" sz="1700" b="1" dirty="0">
                <a:solidFill>
                  <a:srgbClr val="29261F"/>
                </a:solidFill>
                <a:latin typeface="Aptos" pitchFamily="34" charset="0"/>
                <a:ea typeface="Aptos" pitchFamily="34" charset="-122"/>
                <a:cs typeface="Aptos" pitchFamily="34" charset="-120"/>
              </a:rPr>
              <a:t>React + TypeScript</a:t>
            </a:r>
            <a:endParaRPr lang="en-US" sz="1700" dirty="0"/>
          </a:p>
        </p:txBody>
      </p:sp>
      <p:sp>
        <p:nvSpPr>
          <p:cNvPr id="7" name="Text 5"/>
          <p:cNvSpPr txBox="1"/>
          <p:nvPr/>
        </p:nvSpPr>
        <p:spPr>
          <a:xfrm>
            <a:off x="859536" y="2953512"/>
            <a:ext cx="2578608" cy="228600"/>
          </a:xfrm>
          <a:prstGeom prst="rect">
            <a:avLst/>
          </a:prstGeom>
          <a:noFill/>
          <a:ln/>
        </p:spPr>
        <p:txBody>
          <a:bodyPr wrap="square" lIns="0" tIns="0" rIns="0" bIns="0" rtlCol="0" anchor="ctr">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Vercel</a:t>
            </a:r>
            <a:endParaRPr lang="en-US" sz="1200" dirty="0"/>
          </a:p>
        </p:txBody>
      </p:sp>
      <p:sp>
        <p:nvSpPr>
          <p:cNvPr id="8" name="Shape 6"/>
          <p:cNvSpPr/>
          <p:nvPr/>
        </p:nvSpPr>
        <p:spPr>
          <a:xfrm>
            <a:off x="4361688" y="1874520"/>
            <a:ext cx="2971800" cy="1508760"/>
          </a:xfrm>
          <a:prstGeom prst="roundRect">
            <a:avLst>
              <a:gd name="adj" fmla="val 4848"/>
            </a:avLst>
          </a:prstGeom>
          <a:solidFill>
            <a:srgbClr val="FFF4DC"/>
          </a:solidFill>
          <a:ln w="12700">
            <a:solidFill>
              <a:srgbClr val="DED5C6"/>
            </a:solidFill>
            <a:prstDash val="solid"/>
          </a:ln>
        </p:spPr>
      </p:sp>
      <p:sp>
        <p:nvSpPr>
          <p:cNvPr id="9" name="Text 7"/>
          <p:cNvSpPr txBox="1"/>
          <p:nvPr/>
        </p:nvSpPr>
        <p:spPr>
          <a:xfrm>
            <a:off x="4562856" y="2075688"/>
            <a:ext cx="2560320" cy="274320"/>
          </a:xfrm>
          <a:prstGeom prst="rect">
            <a:avLst/>
          </a:prstGeom>
          <a:noFill/>
          <a:ln/>
        </p:spPr>
        <p:txBody>
          <a:bodyPr wrap="square" lIns="0" tIns="0" rIns="0" bIns="0" rtlCol="0" anchor="ctr">
            <a:normAutofit/>
          </a:bodyPr>
          <a:lstStyle/>
          <a:p>
            <a:pPr marL="0" indent="0" algn="l">
              <a:buNone/>
            </a:pPr>
            <a:r>
              <a:rPr lang="en-US" sz="1200" b="1" kern="0" spc="70" dirty="0">
                <a:solidFill>
                  <a:srgbClr val="BD7B1C"/>
                </a:solidFill>
                <a:latin typeface="Aptos" pitchFamily="34" charset="0"/>
                <a:ea typeface="Aptos" pitchFamily="34" charset="-122"/>
                <a:cs typeface="Aptos" pitchFamily="34" charset="-120"/>
              </a:rPr>
              <a:t>C HTTP API</a:t>
            </a:r>
            <a:endParaRPr lang="en-US" sz="1200" dirty="0"/>
          </a:p>
        </p:txBody>
      </p:sp>
      <p:sp>
        <p:nvSpPr>
          <p:cNvPr id="10" name="Text 8"/>
          <p:cNvSpPr txBox="1"/>
          <p:nvPr/>
        </p:nvSpPr>
        <p:spPr>
          <a:xfrm>
            <a:off x="4562856" y="2496312"/>
            <a:ext cx="2578608" cy="365760"/>
          </a:xfrm>
          <a:prstGeom prst="rect">
            <a:avLst/>
          </a:prstGeom>
          <a:noFill/>
          <a:ln/>
        </p:spPr>
        <p:txBody>
          <a:bodyPr wrap="square" lIns="0" tIns="0" rIns="0" bIns="0" rtlCol="0" anchor="ctr">
            <a:normAutofit/>
          </a:bodyPr>
          <a:lstStyle/>
          <a:p>
            <a:pPr marL="0" indent="0" algn="l">
              <a:buNone/>
            </a:pPr>
            <a:r>
              <a:rPr lang="en-US" sz="1700" b="1" dirty="0">
                <a:solidFill>
                  <a:srgbClr val="29261F"/>
                </a:solidFill>
                <a:latin typeface="Aptos" pitchFamily="34" charset="0"/>
                <a:ea typeface="Aptos" pitchFamily="34" charset="-122"/>
                <a:cs typeface="Aptos" pitchFamily="34" charset="-120"/>
              </a:rPr>
              <a:t>POSIX socket server</a:t>
            </a:r>
            <a:endParaRPr lang="en-US" sz="1700" dirty="0"/>
          </a:p>
        </p:txBody>
      </p:sp>
      <p:sp>
        <p:nvSpPr>
          <p:cNvPr id="11" name="Text 9"/>
          <p:cNvSpPr txBox="1"/>
          <p:nvPr/>
        </p:nvSpPr>
        <p:spPr>
          <a:xfrm>
            <a:off x="4562856" y="2953512"/>
            <a:ext cx="2578608" cy="228600"/>
          </a:xfrm>
          <a:prstGeom prst="rect">
            <a:avLst/>
          </a:prstGeom>
          <a:noFill/>
          <a:ln/>
        </p:spPr>
        <p:txBody>
          <a:bodyPr wrap="square" lIns="0" tIns="0" rIns="0" bIns="0" rtlCol="0" anchor="ctr">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Render</a:t>
            </a:r>
            <a:endParaRPr lang="en-US" sz="1200" dirty="0"/>
          </a:p>
        </p:txBody>
      </p:sp>
      <p:sp>
        <p:nvSpPr>
          <p:cNvPr id="12" name="Shape 10"/>
          <p:cNvSpPr/>
          <p:nvPr/>
        </p:nvSpPr>
        <p:spPr>
          <a:xfrm>
            <a:off x="8065008" y="1874520"/>
            <a:ext cx="2971800" cy="1508760"/>
          </a:xfrm>
          <a:prstGeom prst="roundRect">
            <a:avLst>
              <a:gd name="adj" fmla="val 4848"/>
            </a:avLst>
          </a:prstGeom>
          <a:solidFill>
            <a:srgbClr val="E8F1E3"/>
          </a:solidFill>
          <a:ln w="12700">
            <a:solidFill>
              <a:srgbClr val="DED5C6"/>
            </a:solidFill>
            <a:prstDash val="solid"/>
          </a:ln>
        </p:spPr>
      </p:sp>
      <p:sp>
        <p:nvSpPr>
          <p:cNvPr id="13" name="Text 11"/>
          <p:cNvSpPr txBox="1"/>
          <p:nvPr/>
        </p:nvSpPr>
        <p:spPr>
          <a:xfrm>
            <a:off x="8266176" y="2075688"/>
            <a:ext cx="2560320" cy="274320"/>
          </a:xfrm>
          <a:prstGeom prst="rect">
            <a:avLst/>
          </a:prstGeom>
          <a:noFill/>
          <a:ln/>
        </p:spPr>
        <p:txBody>
          <a:bodyPr wrap="square" lIns="0" tIns="0" rIns="0" bIns="0" rtlCol="0" anchor="ctr">
            <a:normAutofit/>
          </a:bodyPr>
          <a:lstStyle/>
          <a:p>
            <a:pPr marL="0" indent="0" algn="l">
              <a:buNone/>
            </a:pPr>
            <a:r>
              <a:rPr lang="en-US" sz="1200" b="1" kern="0" spc="70" dirty="0">
                <a:solidFill>
                  <a:srgbClr val="BD7B1C"/>
                </a:solidFill>
                <a:latin typeface="Aptos" pitchFamily="34" charset="0"/>
                <a:ea typeface="Aptos" pitchFamily="34" charset="-122"/>
                <a:cs typeface="Aptos" pitchFamily="34" charset="-120"/>
              </a:rPr>
              <a:t>C STRUCTURES</a:t>
            </a:r>
            <a:endParaRPr lang="en-US" sz="1200" dirty="0"/>
          </a:p>
        </p:txBody>
      </p:sp>
      <p:sp>
        <p:nvSpPr>
          <p:cNvPr id="14" name="Text 12"/>
          <p:cNvSpPr txBox="1"/>
          <p:nvPr/>
        </p:nvSpPr>
        <p:spPr>
          <a:xfrm>
            <a:off x="8266176" y="2496312"/>
            <a:ext cx="2578608" cy="365760"/>
          </a:xfrm>
          <a:prstGeom prst="rect">
            <a:avLst/>
          </a:prstGeom>
          <a:noFill/>
          <a:ln/>
        </p:spPr>
        <p:txBody>
          <a:bodyPr wrap="square" lIns="0" tIns="0" rIns="0" bIns="0" rtlCol="0" anchor="ctr">
            <a:normAutofit/>
          </a:bodyPr>
          <a:lstStyle/>
          <a:p>
            <a:pPr marL="0" indent="0" algn="l">
              <a:buNone/>
            </a:pPr>
            <a:r>
              <a:rPr lang="en-US" sz="1700" b="1" dirty="0">
                <a:solidFill>
                  <a:srgbClr val="29261F"/>
                </a:solidFill>
                <a:latin typeface="Aptos" pitchFamily="34" charset="0"/>
                <a:ea typeface="Aptos" pitchFamily="34" charset="-122"/>
                <a:cs typeface="Aptos" pitchFamily="34" charset="-120"/>
              </a:rPr>
              <a:t>ds.c + in-memory records</a:t>
            </a:r>
            <a:endParaRPr lang="en-US" sz="1700" dirty="0"/>
          </a:p>
        </p:txBody>
      </p:sp>
      <p:sp>
        <p:nvSpPr>
          <p:cNvPr id="15" name="Text 13"/>
          <p:cNvSpPr txBox="1"/>
          <p:nvPr/>
        </p:nvSpPr>
        <p:spPr>
          <a:xfrm>
            <a:off x="8266176" y="2953512"/>
            <a:ext cx="2578608" cy="228600"/>
          </a:xfrm>
          <a:prstGeom prst="rect">
            <a:avLst/>
          </a:prstGeom>
          <a:noFill/>
          <a:ln/>
        </p:spPr>
        <p:txBody>
          <a:bodyPr wrap="square" lIns="0" tIns="0" rIns="0" bIns="0" rtlCol="0" anchor="ctr">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Native C process</a:t>
            </a:r>
            <a:endParaRPr lang="en-US" sz="1200" dirty="0"/>
          </a:p>
        </p:txBody>
      </p:sp>
      <p:sp>
        <p:nvSpPr>
          <p:cNvPr id="16" name="Shape 14"/>
          <p:cNvSpPr/>
          <p:nvPr/>
        </p:nvSpPr>
        <p:spPr>
          <a:xfrm>
            <a:off x="3685032" y="2624328"/>
            <a:ext cx="576072" cy="0"/>
          </a:xfrm>
          <a:prstGeom prst="line">
            <a:avLst/>
          </a:prstGeom>
          <a:noFill/>
          <a:ln w="25400">
            <a:solidFill>
              <a:srgbClr val="BD7B1C"/>
            </a:solidFill>
            <a:prstDash val="solid"/>
            <a:headEnd type="none"/>
            <a:tailEnd type="triangle"/>
          </a:ln>
        </p:spPr>
      </p:sp>
      <p:sp>
        <p:nvSpPr>
          <p:cNvPr id="17" name="Text 15"/>
          <p:cNvSpPr txBox="1"/>
          <p:nvPr/>
        </p:nvSpPr>
        <p:spPr>
          <a:xfrm>
            <a:off x="3575304" y="2798064"/>
            <a:ext cx="822960" cy="274320"/>
          </a:xfrm>
          <a:prstGeom prst="rect">
            <a:avLst/>
          </a:prstGeom>
          <a:noFill/>
          <a:ln/>
        </p:spPr>
        <p:txBody>
          <a:bodyPr wrap="square" lIns="0" tIns="0" rIns="0" bIns="0" rtlCol="0" anchor="ctr">
            <a:normAutofit/>
          </a:bodyPr>
          <a:lstStyle/>
          <a:p>
            <a:pPr marL="0" indent="0" algn="ctr">
              <a:buNone/>
            </a:pPr>
            <a:r>
              <a:rPr lang="en-US" sz="850" dirty="0">
                <a:solidFill>
                  <a:srgbClr val="6A6256"/>
                </a:solidFill>
                <a:latin typeface="Aptos" pitchFamily="34" charset="0"/>
                <a:ea typeface="Aptos" pitchFamily="34" charset="-122"/>
                <a:cs typeface="Aptos" pitchFamily="34" charset="-120"/>
              </a:rPr>
              <a:t>HTTPS + JSON</a:t>
            </a:r>
            <a:endParaRPr lang="en-US" sz="850" dirty="0"/>
          </a:p>
        </p:txBody>
      </p:sp>
      <p:sp>
        <p:nvSpPr>
          <p:cNvPr id="18" name="Shape 16"/>
          <p:cNvSpPr/>
          <p:nvPr/>
        </p:nvSpPr>
        <p:spPr>
          <a:xfrm>
            <a:off x="7388352" y="2624328"/>
            <a:ext cx="585216" cy="0"/>
          </a:xfrm>
          <a:prstGeom prst="line">
            <a:avLst/>
          </a:prstGeom>
          <a:noFill/>
          <a:ln w="25400">
            <a:solidFill>
              <a:srgbClr val="BD7B1C"/>
            </a:solidFill>
            <a:prstDash val="solid"/>
            <a:headEnd type="none"/>
            <a:tailEnd type="triangle"/>
          </a:ln>
        </p:spPr>
      </p:sp>
      <p:sp>
        <p:nvSpPr>
          <p:cNvPr id="19" name="Text 17"/>
          <p:cNvSpPr txBox="1"/>
          <p:nvPr/>
        </p:nvSpPr>
        <p:spPr>
          <a:xfrm>
            <a:off x="7315200" y="2798064"/>
            <a:ext cx="731520" cy="274320"/>
          </a:xfrm>
          <a:prstGeom prst="rect">
            <a:avLst/>
          </a:prstGeom>
          <a:noFill/>
          <a:ln/>
        </p:spPr>
        <p:txBody>
          <a:bodyPr wrap="square" lIns="0" tIns="0" rIns="0" bIns="0" rtlCol="0" anchor="ctr">
            <a:normAutofit/>
          </a:bodyPr>
          <a:lstStyle/>
          <a:p>
            <a:pPr marL="0" indent="0" algn="ctr">
              <a:buNone/>
            </a:pPr>
            <a:r>
              <a:rPr lang="en-US" sz="850" dirty="0">
                <a:solidFill>
                  <a:srgbClr val="6A6256"/>
                </a:solidFill>
                <a:latin typeface="Aptos" pitchFamily="34" charset="0"/>
                <a:ea typeface="Aptos" pitchFamily="34" charset="-122"/>
                <a:cs typeface="Aptos" pitchFamily="34" charset="-120"/>
              </a:rPr>
              <a:t>C operations</a:t>
            </a:r>
            <a:endParaRPr lang="en-US" sz="850" dirty="0"/>
          </a:p>
        </p:txBody>
      </p:sp>
      <p:sp>
        <p:nvSpPr>
          <p:cNvPr id="20" name="Shape 18"/>
          <p:cNvSpPr/>
          <p:nvPr/>
        </p:nvSpPr>
        <p:spPr>
          <a:xfrm>
            <a:off x="777240" y="4069080"/>
            <a:ext cx="5074920" cy="1325880"/>
          </a:xfrm>
          <a:prstGeom prst="roundRect">
            <a:avLst>
              <a:gd name="adj" fmla="val 5517"/>
            </a:avLst>
          </a:prstGeom>
          <a:solidFill>
            <a:srgbClr val="FFFFFF"/>
          </a:solidFill>
          <a:ln w="12700">
            <a:solidFill>
              <a:srgbClr val="DED5C6"/>
            </a:solidFill>
            <a:prstDash val="solid"/>
          </a:ln>
        </p:spPr>
      </p:sp>
      <p:sp>
        <p:nvSpPr>
          <p:cNvPr id="21" name="Shape 19"/>
          <p:cNvSpPr/>
          <p:nvPr/>
        </p:nvSpPr>
        <p:spPr>
          <a:xfrm>
            <a:off x="923544" y="4251960"/>
            <a:ext cx="82296" cy="960120"/>
          </a:xfrm>
          <a:prstGeom prst="roundRect">
            <a:avLst/>
          </a:prstGeom>
          <a:solidFill>
            <a:srgbClr val="6B8EAA"/>
          </a:solidFill>
          <a:ln w="12700">
            <a:solidFill>
              <a:srgbClr val="6B8EAA">
                <a:alpha val="0"/>
              </a:srgbClr>
            </a:solidFill>
            <a:prstDash val="solid"/>
          </a:ln>
        </p:spPr>
      </p:sp>
      <p:sp>
        <p:nvSpPr>
          <p:cNvPr id="22" name="Text 20"/>
          <p:cNvSpPr txBox="1"/>
          <p:nvPr/>
        </p:nvSpPr>
        <p:spPr>
          <a:xfrm>
            <a:off x="1133856" y="4270248"/>
            <a:ext cx="4517136" cy="347472"/>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A second C path: WebAssembly</a:t>
            </a:r>
            <a:endParaRPr lang="en-US" sz="1600" dirty="0"/>
          </a:p>
        </p:txBody>
      </p:sp>
      <p:sp>
        <p:nvSpPr>
          <p:cNvPr id="23" name="Text 21"/>
          <p:cNvSpPr txBox="1"/>
          <p:nvPr/>
        </p:nvSpPr>
        <p:spPr>
          <a:xfrm>
            <a:off x="1133856" y="4718304"/>
            <a:ext cx="4471416" cy="521208"/>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The same ds.c algorithms are also compiled to ds.wasm for local browser learning and operation traces.</a:t>
            </a:r>
            <a:endParaRPr lang="en-US" sz="1200" dirty="0"/>
          </a:p>
        </p:txBody>
      </p:sp>
      <p:sp>
        <p:nvSpPr>
          <p:cNvPr id="24" name="Shape 22"/>
          <p:cNvSpPr/>
          <p:nvPr/>
        </p:nvSpPr>
        <p:spPr>
          <a:xfrm>
            <a:off x="6217920" y="4069080"/>
            <a:ext cx="5074920" cy="1325880"/>
          </a:xfrm>
          <a:prstGeom prst="roundRect">
            <a:avLst>
              <a:gd name="adj" fmla="val 5517"/>
            </a:avLst>
          </a:prstGeom>
          <a:solidFill>
            <a:srgbClr val="FFFFFF"/>
          </a:solidFill>
          <a:ln w="12700">
            <a:solidFill>
              <a:srgbClr val="DED5C6"/>
            </a:solidFill>
            <a:prstDash val="solid"/>
          </a:ln>
        </p:spPr>
      </p:sp>
      <p:sp>
        <p:nvSpPr>
          <p:cNvPr id="25" name="Shape 23"/>
          <p:cNvSpPr/>
          <p:nvPr/>
        </p:nvSpPr>
        <p:spPr>
          <a:xfrm>
            <a:off x="6364224" y="4251960"/>
            <a:ext cx="82296" cy="960120"/>
          </a:xfrm>
          <a:prstGeom prst="roundRect">
            <a:avLst/>
          </a:prstGeom>
          <a:solidFill>
            <a:srgbClr val="6C965F"/>
          </a:solidFill>
          <a:ln w="12700">
            <a:solidFill>
              <a:srgbClr val="6C965F">
                <a:alpha val="0"/>
              </a:srgbClr>
            </a:solidFill>
            <a:prstDash val="solid"/>
          </a:ln>
        </p:spPr>
      </p:sp>
      <p:sp>
        <p:nvSpPr>
          <p:cNvPr id="26" name="Text 24"/>
          <p:cNvSpPr txBox="1"/>
          <p:nvPr/>
        </p:nvSpPr>
        <p:spPr>
          <a:xfrm>
            <a:off x="6574536" y="4270248"/>
            <a:ext cx="4517136" cy="347472"/>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What the audience sees</a:t>
            </a:r>
            <a:endParaRPr lang="en-US" sz="1600" dirty="0"/>
          </a:p>
        </p:txBody>
      </p:sp>
      <p:sp>
        <p:nvSpPr>
          <p:cNvPr id="27" name="Text 25"/>
          <p:cNvSpPr txBox="1"/>
          <p:nvPr/>
        </p:nvSpPr>
        <p:spPr>
          <a:xfrm>
            <a:off x="6574536" y="4718304"/>
            <a:ext cx="4471416" cy="521208"/>
          </a:xfrm>
          <a:prstGeom prst="rect">
            <a:avLst/>
          </a:prstGeom>
          <a:noFill/>
          <a:ln/>
        </p:spPr>
        <p:txBody>
          <a:bodyPr wrap="square" lIns="0" tIns="0" rIns="0" bIns="0" rtlCol="0" anchor="t">
            <a:normAutofit/>
          </a:bodyPr>
          <a:lstStyle/>
          <a:p>
            <a:pPr marL="0" indent="0" algn="l">
              <a:buNone/>
            </a:pPr>
            <a:r>
              <a:rPr lang="en-US" sz="1200" dirty="0">
                <a:solidFill>
                  <a:srgbClr val="6A6256"/>
                </a:solidFill>
                <a:latin typeface="Aptos" pitchFamily="34" charset="0"/>
                <a:ea typeface="Aptos" pitchFamily="34" charset="-122"/>
                <a:cs typeface="Aptos" pitchFamily="34" charset="-120"/>
              </a:rPr>
              <a:t>A friendly web interface: cards, forms, structure diagrams, status changes, and traversal orders.</a:t>
            </a:r>
            <a:endParaRPr lang="en-US" sz="1200" dirty="0"/>
          </a:p>
        </p:txBody>
      </p:sp>
      <p:sp>
        <p:nvSpPr>
          <p:cNvPr id="28" name="Text 26"/>
          <p:cNvSpPr txBox="1"/>
          <p:nvPr/>
        </p:nvSpPr>
        <p:spPr>
          <a:xfrm>
            <a:off x="804672" y="5724144"/>
            <a:ext cx="10789920" cy="274320"/>
          </a:xfrm>
          <a:prstGeom prst="rect">
            <a:avLst/>
          </a:prstGeom>
          <a:noFill/>
          <a:ln/>
        </p:spPr>
        <p:txBody>
          <a:bodyPr wrap="square" lIns="0" tIns="0" rIns="0" bIns="0" rtlCol="0" anchor="ctr">
            <a:normAutofit/>
          </a:bodyPr>
          <a:lstStyle/>
          <a:p>
            <a:pPr marL="0" indent="0" algn="l">
              <a:buNone/>
            </a:pPr>
            <a:r>
              <a:rPr lang="en-US" sz="1100" dirty="0">
                <a:solidFill>
                  <a:srgbClr val="6A6256"/>
                </a:solidFill>
                <a:latin typeface="Aptos" pitchFamily="34" charset="0"/>
                <a:ea typeface="Aptos" pitchFamily="34" charset="-122"/>
                <a:cs typeface="Aptos" pitchFamily="34" charset="-120"/>
              </a:rPr>
              <a:t>C API check: /api/health  •  Source: c-backend/server.c + c-backend/ds.c</a:t>
            </a:r>
            <a:endParaRPr lang="en-US" sz="1100" dirty="0"/>
          </a:p>
        </p:txBody>
      </p:sp>
      <p:sp>
        <p:nvSpPr>
          <p:cNvPr id="29"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Three kinds of order</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These structures solve different ordering problems</a:t>
            </a:r>
            <a:endParaRPr lang="en-US" sz="1250" dirty="0"/>
          </a:p>
        </p:txBody>
      </p:sp>
      <p:sp>
        <p:nvSpPr>
          <p:cNvPr id="4" name="Shape 2"/>
          <p:cNvSpPr/>
          <p:nvPr/>
        </p:nvSpPr>
        <p:spPr>
          <a:xfrm>
            <a:off x="685800" y="1444752"/>
            <a:ext cx="3520440" cy="3337560"/>
          </a:xfrm>
          <a:prstGeom prst="roundRect">
            <a:avLst>
              <a:gd name="adj" fmla="val 2192"/>
            </a:avLst>
          </a:prstGeom>
          <a:solidFill>
            <a:srgbClr val="FFF4DC"/>
          </a:solidFill>
          <a:ln w="12700">
            <a:solidFill>
              <a:srgbClr val="DED5C6"/>
            </a:solidFill>
            <a:prstDash val="solid"/>
          </a:ln>
        </p:spPr>
      </p:sp>
      <p:sp>
        <p:nvSpPr>
          <p:cNvPr id="5" name="Shape 3"/>
          <p:cNvSpPr/>
          <p:nvPr/>
        </p:nvSpPr>
        <p:spPr>
          <a:xfrm>
            <a:off x="832104" y="1627632"/>
            <a:ext cx="82296" cy="2971800"/>
          </a:xfrm>
          <a:prstGeom prst="roundRect">
            <a:avLst/>
          </a:prstGeom>
          <a:solidFill>
            <a:srgbClr val="BD7B1C"/>
          </a:solidFill>
          <a:ln w="12700">
            <a:solidFill>
              <a:srgbClr val="BD7B1C">
                <a:alpha val="0"/>
              </a:srgbClr>
            </a:solidFill>
            <a:prstDash val="solid"/>
          </a:ln>
        </p:spPr>
      </p:sp>
      <p:sp>
        <p:nvSpPr>
          <p:cNvPr id="6" name="Text 4"/>
          <p:cNvSpPr txBox="1"/>
          <p:nvPr/>
        </p:nvSpPr>
        <p:spPr>
          <a:xfrm>
            <a:off x="1042416" y="1645920"/>
            <a:ext cx="2962656" cy="347472"/>
          </a:xfrm>
          <a:prstGeom prst="rect">
            <a:avLst/>
          </a:prstGeom>
          <a:noFill/>
          <a:ln/>
        </p:spPr>
        <p:txBody>
          <a:bodyPr wrap="square" lIns="0" tIns="0" rIns="0" bIns="0" rtlCol="0" anchor="ctr">
            <a:normAutofit/>
          </a:bodyPr>
          <a:lstStyle/>
          <a:p>
            <a:pPr marL="0" indent="0" algn="l">
              <a:buNone/>
            </a:pPr>
            <a:r>
              <a:rPr lang="en-US" sz="1800" b="1" dirty="0">
                <a:solidFill>
                  <a:srgbClr val="29261F"/>
                </a:solidFill>
                <a:latin typeface="Aptos" pitchFamily="34" charset="0"/>
                <a:ea typeface="Aptos" pitchFamily="34" charset="-122"/>
                <a:cs typeface="Aptos" pitchFamily="34" charset="-120"/>
              </a:rPr>
              <a:t>STACK  /  LIFO</a:t>
            </a:r>
            <a:endParaRPr lang="en-US" sz="1800" dirty="0"/>
          </a:p>
        </p:txBody>
      </p:sp>
      <p:sp>
        <p:nvSpPr>
          <p:cNvPr id="7" name="Text 5"/>
          <p:cNvSpPr txBox="1"/>
          <p:nvPr/>
        </p:nvSpPr>
        <p:spPr>
          <a:xfrm>
            <a:off x="1042416" y="2093976"/>
            <a:ext cx="2916936" cy="2532888"/>
          </a:xfrm>
          <a:prstGeom prst="rect">
            <a:avLst/>
          </a:prstGeom>
          <a:noFill/>
          <a:ln/>
        </p:spPr>
        <p:txBody>
          <a:bodyPr wrap="square" lIns="0" tIns="0" rIns="0" bIns="0" rtlCol="0" anchor="t">
            <a:normAutofit/>
          </a:bodyPr>
          <a:lstStyle/>
          <a:p>
            <a:pPr marL="0" indent="0" algn="l">
              <a:buNone/>
            </a:pPr>
            <a:r>
              <a:rPr lang="en-US" sz="1500" dirty="0">
                <a:solidFill>
                  <a:srgbClr val="6A6256"/>
                </a:solidFill>
                <a:latin typeface="Aptos" pitchFamily="34" charset="0"/>
                <a:ea typeface="Aptos" pitchFamily="34" charset="-122"/>
                <a:cs typeface="Aptos" pitchFamily="34" charset="-120"/>
              </a:rPr>
              <a:t>Like a pile of plates.</a:t>
            </a:r>
            <a:endParaRPr lang="en-US" sz="1500" dirty="0"/>
          </a:p>
          <a:p>
            <a:pPr marL="0" indent="0" algn="l">
              <a:buNone/>
            </a:pP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New actions go on TOP.</a:t>
            </a: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Read newest first.</a:t>
            </a:r>
            <a:endParaRPr lang="en-US" sz="1500" dirty="0"/>
          </a:p>
          <a:p>
            <a:pPr marL="0" indent="0" algn="l">
              <a:buNone/>
            </a:pP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FoodShare: recent activity history.</a:t>
            </a:r>
            <a:endParaRPr lang="en-US" sz="1500" dirty="0"/>
          </a:p>
        </p:txBody>
      </p:sp>
      <p:sp>
        <p:nvSpPr>
          <p:cNvPr id="8" name="Shape 6"/>
          <p:cNvSpPr/>
          <p:nvPr/>
        </p:nvSpPr>
        <p:spPr>
          <a:xfrm>
            <a:off x="4343400" y="1444752"/>
            <a:ext cx="3520440" cy="3337560"/>
          </a:xfrm>
          <a:prstGeom prst="roundRect">
            <a:avLst>
              <a:gd name="adj" fmla="val 2192"/>
            </a:avLst>
          </a:prstGeom>
          <a:solidFill>
            <a:srgbClr val="EAF0F8"/>
          </a:solidFill>
          <a:ln w="12700">
            <a:solidFill>
              <a:srgbClr val="DED5C6"/>
            </a:solidFill>
            <a:prstDash val="solid"/>
          </a:ln>
        </p:spPr>
      </p:sp>
      <p:sp>
        <p:nvSpPr>
          <p:cNvPr id="9" name="Shape 7"/>
          <p:cNvSpPr/>
          <p:nvPr/>
        </p:nvSpPr>
        <p:spPr>
          <a:xfrm>
            <a:off x="4489704" y="1627632"/>
            <a:ext cx="82296" cy="2971800"/>
          </a:xfrm>
          <a:prstGeom prst="roundRect">
            <a:avLst/>
          </a:prstGeom>
          <a:solidFill>
            <a:srgbClr val="6B8EAA"/>
          </a:solidFill>
          <a:ln w="12700">
            <a:solidFill>
              <a:srgbClr val="6B8EAA">
                <a:alpha val="0"/>
              </a:srgbClr>
            </a:solidFill>
            <a:prstDash val="solid"/>
          </a:ln>
        </p:spPr>
      </p:sp>
      <p:sp>
        <p:nvSpPr>
          <p:cNvPr id="10" name="Text 8"/>
          <p:cNvSpPr txBox="1"/>
          <p:nvPr/>
        </p:nvSpPr>
        <p:spPr>
          <a:xfrm>
            <a:off x="4700016" y="1645920"/>
            <a:ext cx="2962656" cy="347472"/>
          </a:xfrm>
          <a:prstGeom prst="rect">
            <a:avLst/>
          </a:prstGeom>
          <a:noFill/>
          <a:ln/>
        </p:spPr>
        <p:txBody>
          <a:bodyPr wrap="square" lIns="0" tIns="0" rIns="0" bIns="0" rtlCol="0" anchor="ctr">
            <a:normAutofit/>
          </a:bodyPr>
          <a:lstStyle/>
          <a:p>
            <a:pPr marL="0" indent="0" algn="l">
              <a:buNone/>
            </a:pPr>
            <a:r>
              <a:rPr lang="en-US" sz="1800" b="1" dirty="0">
                <a:solidFill>
                  <a:srgbClr val="29261F"/>
                </a:solidFill>
                <a:latin typeface="Aptos" pitchFamily="34" charset="0"/>
                <a:ea typeface="Aptos" pitchFamily="34" charset="-122"/>
                <a:cs typeface="Aptos" pitchFamily="34" charset="-120"/>
              </a:rPr>
              <a:t>QUEUE  /  FIFO</a:t>
            </a:r>
            <a:endParaRPr lang="en-US" sz="1800" dirty="0"/>
          </a:p>
        </p:txBody>
      </p:sp>
      <p:sp>
        <p:nvSpPr>
          <p:cNvPr id="11" name="Text 9"/>
          <p:cNvSpPr txBox="1"/>
          <p:nvPr/>
        </p:nvSpPr>
        <p:spPr>
          <a:xfrm>
            <a:off x="4700016" y="2093976"/>
            <a:ext cx="2916936" cy="2532888"/>
          </a:xfrm>
          <a:prstGeom prst="rect">
            <a:avLst/>
          </a:prstGeom>
          <a:noFill/>
          <a:ln/>
        </p:spPr>
        <p:txBody>
          <a:bodyPr wrap="square" lIns="0" tIns="0" rIns="0" bIns="0" rtlCol="0" anchor="t">
            <a:normAutofit/>
          </a:bodyPr>
          <a:lstStyle/>
          <a:p>
            <a:pPr marL="0" indent="0" algn="l">
              <a:buNone/>
            </a:pPr>
            <a:r>
              <a:rPr lang="en-US" sz="1500" dirty="0">
                <a:solidFill>
                  <a:srgbClr val="6A6256"/>
                </a:solidFill>
                <a:latin typeface="Aptos" pitchFamily="34" charset="0"/>
                <a:ea typeface="Aptos" pitchFamily="34" charset="-122"/>
                <a:cs typeface="Aptos" pitchFamily="34" charset="-120"/>
              </a:rPr>
              <a:t>Like a waiting line.</a:t>
            </a:r>
            <a:endParaRPr lang="en-US" sz="1500" dirty="0"/>
          </a:p>
          <a:p>
            <a:pPr marL="0" indent="0" algn="l">
              <a:buNone/>
            </a:pP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New requests join at the REAR.</a:t>
            </a: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FRONT leaves first.</a:t>
            </a:r>
            <a:endParaRPr lang="en-US" sz="1500" dirty="0"/>
          </a:p>
          <a:p>
            <a:pPr marL="0" indent="0" algn="l">
              <a:buNone/>
            </a:pP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FoodShare: preserve request arrival order.</a:t>
            </a:r>
            <a:endParaRPr lang="en-US" sz="1500" dirty="0"/>
          </a:p>
        </p:txBody>
      </p:sp>
      <p:sp>
        <p:nvSpPr>
          <p:cNvPr id="12" name="Shape 10"/>
          <p:cNvSpPr/>
          <p:nvPr/>
        </p:nvSpPr>
        <p:spPr>
          <a:xfrm>
            <a:off x="8001000" y="1444752"/>
            <a:ext cx="3520440" cy="3337560"/>
          </a:xfrm>
          <a:prstGeom prst="roundRect">
            <a:avLst>
              <a:gd name="adj" fmla="val 2192"/>
            </a:avLst>
          </a:prstGeom>
          <a:solidFill>
            <a:srgbClr val="E8F1E3"/>
          </a:solidFill>
          <a:ln w="12700">
            <a:solidFill>
              <a:srgbClr val="DED5C6"/>
            </a:solidFill>
            <a:prstDash val="solid"/>
          </a:ln>
        </p:spPr>
      </p:sp>
      <p:sp>
        <p:nvSpPr>
          <p:cNvPr id="13" name="Shape 11"/>
          <p:cNvSpPr/>
          <p:nvPr/>
        </p:nvSpPr>
        <p:spPr>
          <a:xfrm>
            <a:off x="8147304" y="1627632"/>
            <a:ext cx="82296" cy="2971800"/>
          </a:xfrm>
          <a:prstGeom prst="roundRect">
            <a:avLst/>
          </a:prstGeom>
          <a:solidFill>
            <a:srgbClr val="6C965F"/>
          </a:solidFill>
          <a:ln w="12700">
            <a:solidFill>
              <a:srgbClr val="6C965F">
                <a:alpha val="0"/>
              </a:srgbClr>
            </a:solidFill>
            <a:prstDash val="solid"/>
          </a:ln>
        </p:spPr>
      </p:sp>
      <p:sp>
        <p:nvSpPr>
          <p:cNvPr id="14" name="Text 12"/>
          <p:cNvSpPr txBox="1"/>
          <p:nvPr/>
        </p:nvSpPr>
        <p:spPr>
          <a:xfrm>
            <a:off x="8357616" y="1645920"/>
            <a:ext cx="2962656" cy="347472"/>
          </a:xfrm>
          <a:prstGeom prst="rect">
            <a:avLst/>
          </a:prstGeom>
          <a:noFill/>
          <a:ln/>
        </p:spPr>
        <p:txBody>
          <a:bodyPr wrap="square" lIns="0" tIns="0" rIns="0" bIns="0" rtlCol="0" anchor="ctr">
            <a:normAutofit/>
          </a:bodyPr>
          <a:lstStyle/>
          <a:p>
            <a:pPr marL="0" indent="0" algn="l">
              <a:buNone/>
            </a:pPr>
            <a:r>
              <a:rPr lang="en-US" sz="1800" b="1" dirty="0">
                <a:solidFill>
                  <a:srgbClr val="29261F"/>
                </a:solidFill>
                <a:latin typeface="Aptos" pitchFamily="34" charset="0"/>
                <a:ea typeface="Aptos" pitchFamily="34" charset="-122"/>
                <a:cs typeface="Aptos" pitchFamily="34" charset="-120"/>
              </a:rPr>
              <a:t>DEQUE  /  BOTH ENDS</a:t>
            </a:r>
            <a:endParaRPr lang="en-US" sz="1800" dirty="0"/>
          </a:p>
        </p:txBody>
      </p:sp>
      <p:sp>
        <p:nvSpPr>
          <p:cNvPr id="15" name="Text 13"/>
          <p:cNvSpPr txBox="1"/>
          <p:nvPr/>
        </p:nvSpPr>
        <p:spPr>
          <a:xfrm>
            <a:off x="8357616" y="2093976"/>
            <a:ext cx="2916936" cy="2532888"/>
          </a:xfrm>
          <a:prstGeom prst="rect">
            <a:avLst/>
          </a:prstGeom>
          <a:noFill/>
          <a:ln/>
        </p:spPr>
        <p:txBody>
          <a:bodyPr wrap="square" lIns="0" tIns="0" rIns="0" bIns="0" rtlCol="0" anchor="t">
            <a:normAutofit/>
          </a:bodyPr>
          <a:lstStyle/>
          <a:p>
            <a:pPr marL="0" indent="0" algn="l">
              <a:buNone/>
            </a:pPr>
            <a:r>
              <a:rPr lang="en-US" sz="1500" dirty="0">
                <a:solidFill>
                  <a:srgbClr val="6A6256"/>
                </a:solidFill>
                <a:latin typeface="Aptos" pitchFamily="34" charset="0"/>
                <a:ea typeface="Aptos" pitchFamily="34" charset="-122"/>
                <a:cs typeface="Aptos" pitchFamily="34" charset="-120"/>
              </a:rPr>
              <a:t>A line with two doors.</a:t>
            </a:r>
            <a:endParaRPr lang="en-US" sz="1500" dirty="0"/>
          </a:p>
          <a:p>
            <a:pPr marL="0" indent="0" algn="l">
              <a:buNone/>
            </a:pP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Items can move from either end.</a:t>
            </a: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Urgent requests go toward FRONT.</a:t>
            </a:r>
            <a:endParaRPr lang="en-US" sz="1500" dirty="0"/>
          </a:p>
          <a:p>
            <a:pPr marL="0" indent="0" algn="l">
              <a:buNone/>
            </a:pPr>
            <a:endParaRPr lang="en-US" sz="1500" dirty="0"/>
          </a:p>
          <a:p>
            <a:pPr marL="0" indent="0" algn="l">
              <a:buNone/>
            </a:pPr>
            <a:r>
              <a:rPr lang="en-US" sz="1500" dirty="0">
                <a:solidFill>
                  <a:srgbClr val="6A6256"/>
                </a:solidFill>
                <a:latin typeface="Aptos" pitchFamily="34" charset="0"/>
                <a:ea typeface="Aptos" pitchFamily="34" charset="-122"/>
                <a:cs typeface="Aptos" pitchFamily="34" charset="-120"/>
              </a:rPr>
              <a:t>FoodShare: coordinator dispatch lane.</a:t>
            </a:r>
            <a:endParaRPr lang="en-US" sz="1500" dirty="0"/>
          </a:p>
        </p:txBody>
      </p:sp>
      <p:sp>
        <p:nvSpPr>
          <p:cNvPr id="16" name="Shape 14"/>
          <p:cNvSpPr/>
          <p:nvPr/>
        </p:nvSpPr>
        <p:spPr>
          <a:xfrm>
            <a:off x="960120" y="5230368"/>
            <a:ext cx="10195560" cy="713232"/>
          </a:xfrm>
          <a:prstGeom prst="roundRect">
            <a:avLst>
              <a:gd name="adj" fmla="val 10256"/>
            </a:avLst>
          </a:prstGeom>
          <a:solidFill>
            <a:srgbClr val="FFFFFF"/>
          </a:solidFill>
          <a:ln w="12700">
            <a:solidFill>
              <a:srgbClr val="DED5C6"/>
            </a:solidFill>
            <a:prstDash val="solid"/>
          </a:ln>
        </p:spPr>
      </p:sp>
      <p:sp>
        <p:nvSpPr>
          <p:cNvPr id="17" name="Text 15"/>
          <p:cNvSpPr txBox="1"/>
          <p:nvPr/>
        </p:nvSpPr>
        <p:spPr>
          <a:xfrm>
            <a:off x="1170432" y="5413248"/>
            <a:ext cx="9784080" cy="310896"/>
          </a:xfrm>
          <a:prstGeom prst="rect">
            <a:avLst/>
          </a:prstGeom>
          <a:noFill/>
          <a:ln/>
        </p:spPr>
        <p:txBody>
          <a:bodyPr wrap="square" lIns="0" tIns="0" rIns="0" bIns="0" rtlCol="0" anchor="ctr">
            <a:normAutofit/>
          </a:bodyPr>
          <a:lstStyle/>
          <a:p>
            <a:pPr marL="0" indent="0" algn="ctr">
              <a:buNone/>
            </a:pPr>
            <a:r>
              <a:rPr lang="en-US" sz="1800" b="1" dirty="0">
                <a:solidFill>
                  <a:srgbClr val="29261F"/>
                </a:solidFill>
                <a:latin typeface="Aptos" pitchFamily="34" charset="0"/>
                <a:ea typeface="Aptos" pitchFamily="34" charset="-122"/>
                <a:cs typeface="Aptos" pitchFamily="34" charset="-120"/>
              </a:rPr>
              <a:t>Queue = who asked first?     •     Deque = who should be dispatched next?</a:t>
            </a:r>
            <a:endParaRPr lang="en-US" sz="1800" dirty="0"/>
          </a:p>
        </p:txBody>
      </p:sp>
      <p:sp>
        <p:nvSpPr>
          <p:cNvPr id="25"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Urgency and lookup</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Expiry order and ID search need different tools</a:t>
            </a:r>
            <a:endParaRPr lang="en-US" sz="1250" dirty="0"/>
          </a:p>
        </p:txBody>
      </p:sp>
      <p:sp>
        <p:nvSpPr>
          <p:cNvPr id="4" name="Shape 2"/>
          <p:cNvSpPr/>
          <p:nvPr/>
        </p:nvSpPr>
        <p:spPr>
          <a:xfrm>
            <a:off x="731520" y="1508760"/>
            <a:ext cx="5166360" cy="3401568"/>
          </a:xfrm>
          <a:prstGeom prst="roundRect">
            <a:avLst>
              <a:gd name="adj" fmla="val 2151"/>
            </a:avLst>
          </a:prstGeom>
          <a:solidFill>
            <a:srgbClr val="FFF4DC"/>
          </a:solidFill>
          <a:ln w="12700">
            <a:solidFill>
              <a:srgbClr val="DED5C6"/>
            </a:solidFill>
            <a:prstDash val="solid"/>
          </a:ln>
        </p:spPr>
      </p:sp>
      <p:sp>
        <p:nvSpPr>
          <p:cNvPr id="5" name="Shape 3"/>
          <p:cNvSpPr/>
          <p:nvPr/>
        </p:nvSpPr>
        <p:spPr>
          <a:xfrm>
            <a:off x="877824" y="1691640"/>
            <a:ext cx="82296" cy="3035808"/>
          </a:xfrm>
          <a:prstGeom prst="roundRect">
            <a:avLst/>
          </a:prstGeom>
          <a:solidFill>
            <a:srgbClr val="BD7B1C"/>
          </a:solidFill>
          <a:ln w="12700">
            <a:solidFill>
              <a:srgbClr val="BD7B1C">
                <a:alpha val="0"/>
              </a:srgbClr>
            </a:solidFill>
            <a:prstDash val="solid"/>
          </a:ln>
        </p:spPr>
      </p:sp>
      <p:sp>
        <p:nvSpPr>
          <p:cNvPr id="6" name="Text 4"/>
          <p:cNvSpPr txBox="1"/>
          <p:nvPr/>
        </p:nvSpPr>
        <p:spPr>
          <a:xfrm>
            <a:off x="1088136" y="1709928"/>
            <a:ext cx="4608576" cy="347472"/>
          </a:xfrm>
          <a:prstGeom prst="rect">
            <a:avLst/>
          </a:prstGeom>
          <a:noFill/>
          <a:ln/>
        </p:spPr>
        <p:txBody>
          <a:bodyPr wrap="square" lIns="0" tIns="0" rIns="0" bIns="0" rtlCol="0" anchor="ctr">
            <a:normAutofit/>
          </a:bodyPr>
          <a:lstStyle/>
          <a:p>
            <a:pPr marL="0" indent="0" algn="l">
              <a:buNone/>
            </a:pPr>
            <a:r>
              <a:rPr lang="en-US" sz="1700" b="1" dirty="0">
                <a:solidFill>
                  <a:srgbClr val="29261F"/>
                </a:solidFill>
                <a:latin typeface="Aptos" pitchFamily="34" charset="0"/>
                <a:ea typeface="Aptos" pitchFamily="34" charset="-122"/>
                <a:cs typeface="Aptos" pitchFamily="34" charset="-120"/>
              </a:rPr>
              <a:t>MIN-HEAP  /  PRIORITY QUEUE</a:t>
            </a:r>
            <a:endParaRPr lang="en-US" sz="1700" dirty="0"/>
          </a:p>
        </p:txBody>
      </p:sp>
      <p:sp>
        <p:nvSpPr>
          <p:cNvPr id="7" name="Text 5"/>
          <p:cNvSpPr txBox="1"/>
          <p:nvPr/>
        </p:nvSpPr>
        <p:spPr>
          <a:xfrm>
            <a:off x="1088136" y="2157984"/>
            <a:ext cx="4562856" cy="2596896"/>
          </a:xfrm>
          <a:prstGeom prst="rect">
            <a:avLst/>
          </a:prstGeom>
          <a:noFill/>
          <a:ln/>
        </p:spPr>
        <p:txBody>
          <a:bodyPr wrap="square" lIns="0" tIns="0" rIns="0" bIns="0" rtlCol="0" anchor="t">
            <a:normAutofit/>
          </a:bodyPr>
          <a:lstStyle/>
          <a:p>
            <a:pPr marL="0" indent="0" algn="l">
              <a:buNone/>
            </a:pPr>
            <a:r>
              <a:rPr lang="en-US" sz="1400" dirty="0">
                <a:solidFill>
                  <a:srgbClr val="6A6256"/>
                </a:solidFill>
                <a:latin typeface="Aptos" pitchFamily="34" charset="0"/>
                <a:ea typeface="Aptos" pitchFamily="34" charset="-122"/>
                <a:cs typeface="Aptos" pitchFamily="34" charset="-120"/>
              </a:rPr>
              <a:t>Think: next food to expire rises to the top.</a:t>
            </a:r>
            <a:endParaRPr lang="en-US" sz="1400" dirty="0"/>
          </a:p>
          <a:p>
            <a:pPr marL="0" indent="0" algn="l">
              <a:buNone/>
            </a:pP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Each donation is stored with its expiry priority. The C min-heap keeps the smallest expiry at its root.</a:t>
            </a:r>
            <a:endParaRPr lang="en-US" sz="1400" dirty="0"/>
          </a:p>
          <a:p>
            <a:pPr marL="0" indent="0" algn="l">
              <a:buNone/>
            </a:pP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FoodShare uses it to order available donations so urgent food is easier to find.</a:t>
            </a:r>
            <a:endParaRPr lang="en-US" sz="1400" dirty="0"/>
          </a:p>
        </p:txBody>
      </p:sp>
      <p:sp>
        <p:nvSpPr>
          <p:cNvPr id="8" name="Shape 6"/>
          <p:cNvSpPr/>
          <p:nvPr/>
        </p:nvSpPr>
        <p:spPr>
          <a:xfrm>
            <a:off x="6263640" y="1508760"/>
            <a:ext cx="5166360" cy="3401568"/>
          </a:xfrm>
          <a:prstGeom prst="roundRect">
            <a:avLst>
              <a:gd name="adj" fmla="val 2151"/>
            </a:avLst>
          </a:prstGeom>
          <a:solidFill>
            <a:srgbClr val="EAF0F8"/>
          </a:solidFill>
          <a:ln w="12700">
            <a:solidFill>
              <a:srgbClr val="DED5C6"/>
            </a:solidFill>
            <a:prstDash val="solid"/>
          </a:ln>
        </p:spPr>
      </p:sp>
      <p:sp>
        <p:nvSpPr>
          <p:cNvPr id="9" name="Shape 7"/>
          <p:cNvSpPr/>
          <p:nvPr/>
        </p:nvSpPr>
        <p:spPr>
          <a:xfrm>
            <a:off x="6409944" y="1691640"/>
            <a:ext cx="82296" cy="3035808"/>
          </a:xfrm>
          <a:prstGeom prst="roundRect">
            <a:avLst/>
          </a:prstGeom>
          <a:solidFill>
            <a:srgbClr val="6B8EAA"/>
          </a:solidFill>
          <a:ln w="12700">
            <a:solidFill>
              <a:srgbClr val="6B8EAA">
                <a:alpha val="0"/>
              </a:srgbClr>
            </a:solidFill>
            <a:prstDash val="solid"/>
          </a:ln>
        </p:spPr>
      </p:sp>
      <p:sp>
        <p:nvSpPr>
          <p:cNvPr id="10" name="Text 8"/>
          <p:cNvSpPr txBox="1"/>
          <p:nvPr/>
        </p:nvSpPr>
        <p:spPr>
          <a:xfrm>
            <a:off x="6620256" y="1709928"/>
            <a:ext cx="4608576" cy="347472"/>
          </a:xfrm>
          <a:prstGeom prst="rect">
            <a:avLst/>
          </a:prstGeom>
          <a:noFill/>
          <a:ln/>
        </p:spPr>
        <p:txBody>
          <a:bodyPr wrap="square" lIns="0" tIns="0" rIns="0" bIns="0" rtlCol="0" anchor="ctr">
            <a:normAutofit/>
          </a:bodyPr>
          <a:lstStyle/>
          <a:p>
            <a:pPr marL="0" indent="0" algn="l">
              <a:buNone/>
            </a:pPr>
            <a:r>
              <a:rPr lang="en-US" sz="1700" b="1" dirty="0">
                <a:solidFill>
                  <a:srgbClr val="29261F"/>
                </a:solidFill>
                <a:latin typeface="Aptos" pitchFamily="34" charset="0"/>
                <a:ea typeface="Aptos" pitchFamily="34" charset="-122"/>
                <a:cs typeface="Aptos" pitchFamily="34" charset="-120"/>
              </a:rPr>
              <a:t>BALANCED SEARCH TREE  /  BST</a:t>
            </a:r>
            <a:endParaRPr lang="en-US" sz="1700" dirty="0"/>
          </a:p>
        </p:txBody>
      </p:sp>
      <p:sp>
        <p:nvSpPr>
          <p:cNvPr id="11" name="Text 9"/>
          <p:cNvSpPr txBox="1"/>
          <p:nvPr/>
        </p:nvSpPr>
        <p:spPr>
          <a:xfrm>
            <a:off x="6620256" y="2157984"/>
            <a:ext cx="4562856" cy="2596896"/>
          </a:xfrm>
          <a:prstGeom prst="rect">
            <a:avLst/>
          </a:prstGeom>
          <a:noFill/>
          <a:ln/>
        </p:spPr>
        <p:txBody>
          <a:bodyPr wrap="square" lIns="0" tIns="0" rIns="0" bIns="0" rtlCol="0" anchor="t">
            <a:normAutofit/>
          </a:bodyPr>
          <a:lstStyle/>
          <a:p>
            <a:pPr marL="0" indent="0" algn="l">
              <a:buNone/>
            </a:pPr>
            <a:r>
              <a:rPr lang="en-US" sz="1400" dirty="0">
                <a:solidFill>
                  <a:srgbClr val="6A6256"/>
                </a:solidFill>
                <a:latin typeface="Aptos" pitchFamily="34" charset="0"/>
                <a:ea typeface="Aptos" pitchFamily="34" charset="-122"/>
                <a:cs typeface="Aptos" pitchFamily="34" charset="-120"/>
              </a:rPr>
              <a:t>Think: a number guessing game.</a:t>
            </a:r>
            <a:endParaRPr lang="en-US" sz="1400" dirty="0"/>
          </a:p>
          <a:p>
            <a:pPr marL="0" indent="0" algn="l">
              <a:buNone/>
            </a:pP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Compare the donation ID. Go left if smaller; right if larger. Balancing rotations keep the tree from becoming a long chain.</a:t>
            </a:r>
            <a:endParaRPr lang="en-US" sz="1400" dirty="0"/>
          </a:p>
          <a:p>
            <a:pPr marL="0" indent="0" algn="l">
              <a:buNone/>
            </a:pP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FoodShare uses it to index donation IDs and show search depth.</a:t>
            </a:r>
            <a:endParaRPr lang="en-US" sz="1400" dirty="0"/>
          </a:p>
        </p:txBody>
      </p:sp>
      <p:sp>
        <p:nvSpPr>
          <p:cNvPr id="12" name="Text 10"/>
          <p:cNvSpPr txBox="1"/>
          <p:nvPr/>
        </p:nvSpPr>
        <p:spPr>
          <a:xfrm>
            <a:off x="960120" y="5349240"/>
            <a:ext cx="731520" cy="274320"/>
          </a:xfrm>
          <a:prstGeom prst="rect">
            <a:avLst/>
          </a:prstGeom>
          <a:noFill/>
          <a:ln/>
        </p:spPr>
        <p:txBody>
          <a:bodyPr wrap="square" lIns="0" tIns="0" rIns="0" bIns="0" rtlCol="0" anchor="ctr">
            <a:normAutofit/>
          </a:bodyPr>
          <a:lstStyle/>
          <a:p>
            <a:pPr marL="0" indent="0" algn="l">
              <a:buNone/>
            </a:pPr>
            <a:r>
              <a:rPr lang="en-US" sz="1100" b="1" dirty="0">
                <a:solidFill>
                  <a:srgbClr val="BD7B1C"/>
                </a:solidFill>
                <a:latin typeface="Aptos" pitchFamily="34" charset="0"/>
                <a:ea typeface="Aptos" pitchFamily="34" charset="-122"/>
                <a:cs typeface="Aptos" pitchFamily="34" charset="-120"/>
              </a:rPr>
              <a:t>HEAP</a:t>
            </a:r>
            <a:endParaRPr lang="en-US" sz="1100" dirty="0"/>
          </a:p>
        </p:txBody>
      </p:sp>
      <p:sp>
        <p:nvSpPr>
          <p:cNvPr id="13" name="Text 11"/>
          <p:cNvSpPr txBox="1"/>
          <p:nvPr/>
        </p:nvSpPr>
        <p:spPr>
          <a:xfrm>
            <a:off x="1783080" y="5312664"/>
            <a:ext cx="3657600" cy="347472"/>
          </a:xfrm>
          <a:prstGeom prst="rect">
            <a:avLst/>
          </a:prstGeom>
          <a:noFill/>
          <a:ln/>
        </p:spPr>
        <p:txBody>
          <a:bodyPr wrap="square" lIns="0" tIns="0" rIns="0" bIns="0" rtlCol="0" anchor="ctr">
            <a:normAutofit/>
          </a:bodyPr>
          <a:lstStyle/>
          <a:p>
            <a:pPr marL="0" indent="0" algn="l">
              <a:buNone/>
            </a:pPr>
            <a:r>
              <a:rPr lang="en-US" sz="1800" b="1" dirty="0">
                <a:solidFill>
                  <a:srgbClr val="29261F"/>
                </a:solidFill>
                <a:latin typeface="Aptos" pitchFamily="34" charset="0"/>
                <a:ea typeface="Aptos" pitchFamily="34" charset="-122"/>
                <a:cs typeface="Aptos" pitchFamily="34" charset="-120"/>
              </a:rPr>
              <a:t>“Which one expires first?”</a:t>
            </a:r>
            <a:endParaRPr lang="en-US" sz="1800" dirty="0"/>
          </a:p>
        </p:txBody>
      </p:sp>
      <p:sp>
        <p:nvSpPr>
          <p:cNvPr id="14" name="Text 12"/>
          <p:cNvSpPr txBox="1"/>
          <p:nvPr/>
        </p:nvSpPr>
        <p:spPr>
          <a:xfrm>
            <a:off x="6355080" y="5349240"/>
            <a:ext cx="640080" cy="274320"/>
          </a:xfrm>
          <a:prstGeom prst="rect">
            <a:avLst/>
          </a:prstGeom>
          <a:noFill/>
          <a:ln/>
        </p:spPr>
        <p:txBody>
          <a:bodyPr wrap="square" lIns="0" tIns="0" rIns="0" bIns="0" rtlCol="0" anchor="ctr">
            <a:normAutofit/>
          </a:bodyPr>
          <a:lstStyle/>
          <a:p>
            <a:pPr marL="0" indent="0" algn="l">
              <a:buNone/>
            </a:pPr>
            <a:r>
              <a:rPr lang="en-US" sz="1100" b="1" dirty="0">
                <a:solidFill>
                  <a:srgbClr val="6B8EAA"/>
                </a:solidFill>
                <a:latin typeface="Aptos" pitchFamily="34" charset="0"/>
                <a:ea typeface="Aptos" pitchFamily="34" charset="-122"/>
                <a:cs typeface="Aptos" pitchFamily="34" charset="-120"/>
              </a:rPr>
              <a:t>BST</a:t>
            </a:r>
            <a:endParaRPr lang="en-US" sz="1100" dirty="0"/>
          </a:p>
        </p:txBody>
      </p:sp>
      <p:sp>
        <p:nvSpPr>
          <p:cNvPr id="15" name="Text 13"/>
          <p:cNvSpPr txBox="1"/>
          <p:nvPr/>
        </p:nvSpPr>
        <p:spPr>
          <a:xfrm>
            <a:off x="7068312" y="5312664"/>
            <a:ext cx="3474720" cy="347472"/>
          </a:xfrm>
          <a:prstGeom prst="rect">
            <a:avLst/>
          </a:prstGeom>
          <a:noFill/>
          <a:ln/>
        </p:spPr>
        <p:txBody>
          <a:bodyPr wrap="square" lIns="0" tIns="0" rIns="0" bIns="0" rtlCol="0" anchor="ctr">
            <a:normAutofit/>
          </a:bodyPr>
          <a:lstStyle/>
          <a:p>
            <a:pPr marL="0" indent="0" algn="l">
              <a:buNone/>
            </a:pPr>
            <a:r>
              <a:rPr lang="en-US" sz="1800" b="1" dirty="0">
                <a:solidFill>
                  <a:srgbClr val="29261F"/>
                </a:solidFill>
                <a:latin typeface="Aptos" pitchFamily="34" charset="0"/>
                <a:ea typeface="Aptos" pitchFamily="34" charset="-122"/>
                <a:cs typeface="Aptos" pitchFamily="34" charset="-120"/>
              </a:rPr>
              <a:t>“Where is this ID?”</a:t>
            </a:r>
            <a:endParaRPr lang="en-US" sz="1800" dirty="0"/>
          </a:p>
        </p:txBody>
      </p:sp>
      <p:sp>
        <p:nvSpPr>
          <p:cNvPr id="25"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Delivery links and community connections</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A chain represents progress; a graph represents relationships</a:t>
            </a:r>
            <a:endParaRPr lang="en-US" sz="1250" dirty="0"/>
          </a:p>
        </p:txBody>
      </p:sp>
      <p:sp>
        <p:nvSpPr>
          <p:cNvPr id="4" name="Shape 2"/>
          <p:cNvSpPr/>
          <p:nvPr/>
        </p:nvSpPr>
        <p:spPr>
          <a:xfrm>
            <a:off x="731520" y="1444752"/>
            <a:ext cx="5120640" cy="1508760"/>
          </a:xfrm>
          <a:prstGeom prst="roundRect">
            <a:avLst>
              <a:gd name="adj" fmla="val 4848"/>
            </a:avLst>
          </a:prstGeom>
          <a:solidFill>
            <a:srgbClr val="E8F1E3"/>
          </a:solidFill>
          <a:ln w="12700">
            <a:solidFill>
              <a:srgbClr val="DED5C6"/>
            </a:solidFill>
            <a:prstDash val="solid"/>
          </a:ln>
        </p:spPr>
      </p:sp>
      <p:sp>
        <p:nvSpPr>
          <p:cNvPr id="5" name="Shape 3"/>
          <p:cNvSpPr/>
          <p:nvPr/>
        </p:nvSpPr>
        <p:spPr>
          <a:xfrm>
            <a:off x="877824" y="1627632"/>
            <a:ext cx="82296" cy="1143000"/>
          </a:xfrm>
          <a:prstGeom prst="roundRect">
            <a:avLst/>
          </a:prstGeom>
          <a:solidFill>
            <a:srgbClr val="6C965F"/>
          </a:solidFill>
          <a:ln w="12700">
            <a:solidFill>
              <a:srgbClr val="6C965F">
                <a:alpha val="0"/>
              </a:srgbClr>
            </a:solidFill>
            <a:prstDash val="solid"/>
          </a:ln>
        </p:spPr>
      </p:sp>
      <p:sp>
        <p:nvSpPr>
          <p:cNvPr id="6" name="Text 4"/>
          <p:cNvSpPr txBox="1"/>
          <p:nvPr/>
        </p:nvSpPr>
        <p:spPr>
          <a:xfrm>
            <a:off x="1088136" y="1645920"/>
            <a:ext cx="4562856" cy="347472"/>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LINKED LIST  /  DELIVERY ROUTE</a:t>
            </a:r>
            <a:endParaRPr lang="en-US" sz="1600" dirty="0"/>
          </a:p>
        </p:txBody>
      </p:sp>
      <p:sp>
        <p:nvSpPr>
          <p:cNvPr id="7" name="Text 5"/>
          <p:cNvSpPr txBox="1"/>
          <p:nvPr/>
        </p:nvSpPr>
        <p:spPr>
          <a:xfrm>
            <a:off x="1088136" y="2093976"/>
            <a:ext cx="4517136" cy="704088"/>
          </a:xfrm>
          <a:prstGeom prst="rect">
            <a:avLst/>
          </a:prstGeom>
          <a:noFill/>
          <a:ln/>
        </p:spPr>
        <p:txBody>
          <a:bodyPr wrap="square" lIns="0" tIns="0" rIns="0" bIns="0" rtlCol="0" anchor="t">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Each route node points to the next milestone.</a:t>
            </a:r>
            <a:endParaRPr lang="en-US" sz="1250" dirty="0"/>
          </a:p>
          <a:p>
            <a:pPr marL="0" indent="0" algn="l">
              <a:buNone/>
            </a:pPr>
            <a:r>
              <a:rPr lang="en-US" sz="1250" dirty="0">
                <a:solidFill>
                  <a:srgbClr val="6A6256"/>
                </a:solidFill>
                <a:latin typeface="Aptos" pitchFamily="34" charset="0"/>
                <a:ea typeface="Aptos" pitchFamily="34" charset="-122"/>
                <a:cs typeface="Aptos" pitchFamily="34" charset="-120"/>
              </a:rPr>
              <a:t>HEAD → received → assigned → picked up → delivered → NULL</a:t>
            </a:r>
            <a:endParaRPr lang="en-US" sz="1250" dirty="0"/>
          </a:p>
        </p:txBody>
      </p:sp>
      <p:sp>
        <p:nvSpPr>
          <p:cNvPr id="8" name="Shape 6"/>
          <p:cNvSpPr/>
          <p:nvPr/>
        </p:nvSpPr>
        <p:spPr>
          <a:xfrm>
            <a:off x="1965960" y="3730752"/>
            <a:ext cx="658368" cy="658368"/>
          </a:xfrm>
          <a:prstGeom prst="ellipse">
            <a:avLst/>
          </a:prstGeom>
          <a:solidFill>
            <a:srgbClr val="FFF4DC"/>
          </a:solidFill>
          <a:ln w="19050">
            <a:solidFill>
              <a:srgbClr val="BD7B1C"/>
            </a:solidFill>
            <a:prstDash val="solid"/>
          </a:ln>
        </p:spPr>
      </p:sp>
      <p:sp>
        <p:nvSpPr>
          <p:cNvPr id="9" name="Text 7"/>
          <p:cNvSpPr txBox="1"/>
          <p:nvPr/>
        </p:nvSpPr>
        <p:spPr>
          <a:xfrm>
            <a:off x="1965960" y="3913632"/>
            <a:ext cx="658368" cy="201168"/>
          </a:xfrm>
          <a:prstGeom prst="rect">
            <a:avLst/>
          </a:prstGeom>
          <a:noFill/>
          <a:ln/>
        </p:spPr>
        <p:txBody>
          <a:bodyPr wrap="square" lIns="0" tIns="0" rIns="0" bIns="0" rtlCol="0" anchor="ctr">
            <a:normAutofit/>
          </a:bodyPr>
          <a:lstStyle/>
          <a:p>
            <a:pPr marL="0" indent="0" algn="ctr">
              <a:buNone/>
            </a:pPr>
            <a:r>
              <a:rPr lang="en-US" sz="1300" b="1" dirty="0">
                <a:solidFill>
                  <a:srgbClr val="29261F"/>
                </a:solidFill>
                <a:latin typeface="Aptos" pitchFamily="34" charset="0"/>
                <a:ea typeface="Aptos" pitchFamily="34" charset="-122"/>
                <a:cs typeface="Aptos" pitchFamily="34" charset="-120"/>
              </a:rPr>
              <a:t>1</a:t>
            </a:r>
            <a:endParaRPr lang="en-US" sz="1300" dirty="0"/>
          </a:p>
        </p:txBody>
      </p:sp>
      <p:sp>
        <p:nvSpPr>
          <p:cNvPr id="10" name="Shape 8"/>
          <p:cNvSpPr/>
          <p:nvPr/>
        </p:nvSpPr>
        <p:spPr>
          <a:xfrm>
            <a:off x="2971800" y="3730752"/>
            <a:ext cx="658368" cy="658368"/>
          </a:xfrm>
          <a:prstGeom prst="ellipse">
            <a:avLst/>
          </a:prstGeom>
          <a:solidFill>
            <a:srgbClr val="FFFFFF"/>
          </a:solidFill>
          <a:ln w="19050">
            <a:solidFill>
              <a:srgbClr val="BD7B1C"/>
            </a:solidFill>
            <a:prstDash val="solid"/>
          </a:ln>
        </p:spPr>
      </p:sp>
      <p:sp>
        <p:nvSpPr>
          <p:cNvPr id="11" name="Text 9"/>
          <p:cNvSpPr txBox="1"/>
          <p:nvPr/>
        </p:nvSpPr>
        <p:spPr>
          <a:xfrm>
            <a:off x="2971800" y="3913632"/>
            <a:ext cx="658368" cy="201168"/>
          </a:xfrm>
          <a:prstGeom prst="rect">
            <a:avLst/>
          </a:prstGeom>
          <a:noFill/>
          <a:ln/>
        </p:spPr>
        <p:txBody>
          <a:bodyPr wrap="square" lIns="0" tIns="0" rIns="0" bIns="0" rtlCol="0" anchor="ctr">
            <a:normAutofit/>
          </a:bodyPr>
          <a:lstStyle/>
          <a:p>
            <a:pPr marL="0" indent="0" algn="ctr">
              <a:buNone/>
            </a:pPr>
            <a:r>
              <a:rPr lang="en-US" sz="1300" b="1" dirty="0">
                <a:solidFill>
                  <a:srgbClr val="29261F"/>
                </a:solidFill>
                <a:latin typeface="Aptos" pitchFamily="34" charset="0"/>
                <a:ea typeface="Aptos" pitchFamily="34" charset="-122"/>
                <a:cs typeface="Aptos" pitchFamily="34" charset="-120"/>
              </a:rPr>
              <a:t>2</a:t>
            </a:r>
            <a:endParaRPr lang="en-US" sz="1300" dirty="0"/>
          </a:p>
        </p:txBody>
      </p:sp>
      <p:sp>
        <p:nvSpPr>
          <p:cNvPr id="12" name="Shape 10"/>
          <p:cNvSpPr/>
          <p:nvPr/>
        </p:nvSpPr>
        <p:spPr>
          <a:xfrm>
            <a:off x="3977640" y="3730752"/>
            <a:ext cx="658368" cy="658368"/>
          </a:xfrm>
          <a:prstGeom prst="ellipse">
            <a:avLst/>
          </a:prstGeom>
          <a:solidFill>
            <a:srgbClr val="FFFFFF"/>
          </a:solidFill>
          <a:ln w="19050">
            <a:solidFill>
              <a:srgbClr val="BD7B1C"/>
            </a:solidFill>
            <a:prstDash val="solid"/>
          </a:ln>
        </p:spPr>
      </p:sp>
      <p:sp>
        <p:nvSpPr>
          <p:cNvPr id="13" name="Text 11"/>
          <p:cNvSpPr txBox="1"/>
          <p:nvPr/>
        </p:nvSpPr>
        <p:spPr>
          <a:xfrm>
            <a:off x="3977640" y="3913632"/>
            <a:ext cx="658368" cy="201168"/>
          </a:xfrm>
          <a:prstGeom prst="rect">
            <a:avLst/>
          </a:prstGeom>
          <a:noFill/>
          <a:ln/>
        </p:spPr>
        <p:txBody>
          <a:bodyPr wrap="square" lIns="0" tIns="0" rIns="0" bIns="0" rtlCol="0" anchor="ctr">
            <a:normAutofit/>
          </a:bodyPr>
          <a:lstStyle/>
          <a:p>
            <a:pPr marL="0" indent="0" algn="ctr">
              <a:buNone/>
            </a:pPr>
            <a:r>
              <a:rPr lang="en-US" sz="1300" b="1" dirty="0">
                <a:solidFill>
                  <a:srgbClr val="29261F"/>
                </a:solidFill>
                <a:latin typeface="Aptos" pitchFamily="34" charset="0"/>
                <a:ea typeface="Aptos" pitchFamily="34" charset="-122"/>
                <a:cs typeface="Aptos" pitchFamily="34" charset="-120"/>
              </a:rPr>
              <a:t>3</a:t>
            </a:r>
            <a:endParaRPr lang="en-US" sz="1300" dirty="0"/>
          </a:p>
        </p:txBody>
      </p:sp>
      <p:sp>
        <p:nvSpPr>
          <p:cNvPr id="14" name="Text 12"/>
          <p:cNvSpPr txBox="1"/>
          <p:nvPr/>
        </p:nvSpPr>
        <p:spPr>
          <a:xfrm>
            <a:off x="804672" y="3931920"/>
            <a:ext cx="594360" cy="228600"/>
          </a:xfrm>
          <a:prstGeom prst="rect">
            <a:avLst/>
          </a:prstGeom>
          <a:noFill/>
          <a:ln/>
        </p:spPr>
        <p:txBody>
          <a:bodyPr wrap="square" lIns="0" tIns="0" rIns="0" bIns="0" rtlCol="0" anchor="ctr">
            <a:normAutofit/>
          </a:bodyPr>
          <a:lstStyle/>
          <a:p>
            <a:pPr marL="0" indent="0" algn="ctr">
              <a:buNone/>
            </a:pPr>
            <a:r>
              <a:rPr lang="en-US" sz="900" b="1" dirty="0">
                <a:solidFill>
                  <a:srgbClr val="BD7B1C"/>
                </a:solidFill>
                <a:latin typeface="Aptos" pitchFamily="34" charset="0"/>
                <a:ea typeface="Aptos" pitchFamily="34" charset="-122"/>
                <a:cs typeface="Aptos" pitchFamily="34" charset="-120"/>
              </a:rPr>
              <a:t>HEAD</a:t>
            </a:r>
            <a:endParaRPr lang="en-US" sz="900" dirty="0"/>
          </a:p>
        </p:txBody>
      </p:sp>
      <p:sp>
        <p:nvSpPr>
          <p:cNvPr id="15" name="Text 13"/>
          <p:cNvSpPr txBox="1"/>
          <p:nvPr/>
        </p:nvSpPr>
        <p:spPr>
          <a:xfrm>
            <a:off x="4840705" y="3947962"/>
            <a:ext cx="594360" cy="228600"/>
          </a:xfrm>
          <a:prstGeom prst="rect">
            <a:avLst/>
          </a:prstGeom>
          <a:noFill/>
          <a:ln/>
        </p:spPr>
        <p:txBody>
          <a:bodyPr wrap="square" lIns="0" tIns="0" rIns="0" bIns="0" rtlCol="0" anchor="ctr">
            <a:normAutofit/>
          </a:bodyPr>
          <a:lstStyle/>
          <a:p>
            <a:pPr marL="0" indent="0" algn="ctr">
              <a:buNone/>
            </a:pPr>
            <a:r>
              <a:rPr lang="en-US" sz="900" b="1" dirty="0">
                <a:solidFill>
                  <a:srgbClr val="6A6256"/>
                </a:solidFill>
                <a:latin typeface="Aptos" pitchFamily="34" charset="0"/>
                <a:ea typeface="Aptos" pitchFamily="34" charset="-122"/>
                <a:cs typeface="Aptos" pitchFamily="34" charset="-120"/>
              </a:rPr>
              <a:t>NULL</a:t>
            </a:r>
            <a:endParaRPr lang="en-US" sz="900" dirty="0"/>
          </a:p>
        </p:txBody>
      </p:sp>
      <p:sp>
        <p:nvSpPr>
          <p:cNvPr id="16" name="Shape 14"/>
          <p:cNvSpPr/>
          <p:nvPr/>
        </p:nvSpPr>
        <p:spPr>
          <a:xfrm>
            <a:off x="1453896" y="4059936"/>
            <a:ext cx="448056" cy="0"/>
          </a:xfrm>
          <a:prstGeom prst="line">
            <a:avLst/>
          </a:prstGeom>
          <a:noFill/>
          <a:ln w="25400">
            <a:solidFill>
              <a:srgbClr val="6A6256"/>
            </a:solidFill>
            <a:prstDash val="solid"/>
            <a:headEnd type="none"/>
            <a:tailEnd type="triangle"/>
          </a:ln>
        </p:spPr>
      </p:sp>
      <p:sp>
        <p:nvSpPr>
          <p:cNvPr id="17" name="Shape 15"/>
          <p:cNvSpPr/>
          <p:nvPr/>
        </p:nvSpPr>
        <p:spPr>
          <a:xfrm>
            <a:off x="2657535" y="4059936"/>
            <a:ext cx="274320" cy="0"/>
          </a:xfrm>
          <a:prstGeom prst="line">
            <a:avLst/>
          </a:prstGeom>
          <a:noFill/>
          <a:ln w="25400">
            <a:solidFill>
              <a:srgbClr val="6A6256"/>
            </a:solidFill>
            <a:prstDash val="solid"/>
            <a:headEnd type="none"/>
            <a:tailEnd type="triangle"/>
          </a:ln>
        </p:spPr>
      </p:sp>
      <p:sp>
        <p:nvSpPr>
          <p:cNvPr id="18" name="Shape 16"/>
          <p:cNvSpPr/>
          <p:nvPr/>
        </p:nvSpPr>
        <p:spPr>
          <a:xfrm>
            <a:off x="3663375" y="4059936"/>
            <a:ext cx="274320" cy="0"/>
          </a:xfrm>
          <a:prstGeom prst="line">
            <a:avLst/>
          </a:prstGeom>
          <a:noFill/>
          <a:ln w="25400">
            <a:solidFill>
              <a:srgbClr val="6A6256"/>
            </a:solidFill>
            <a:prstDash val="solid"/>
            <a:headEnd type="none"/>
            <a:tailEnd type="triangle"/>
          </a:ln>
        </p:spPr>
      </p:sp>
      <p:sp>
        <p:nvSpPr>
          <p:cNvPr id="19" name="Shape 17"/>
          <p:cNvSpPr/>
          <p:nvPr/>
        </p:nvSpPr>
        <p:spPr>
          <a:xfrm>
            <a:off x="4636007" y="4059936"/>
            <a:ext cx="321243" cy="0"/>
          </a:xfrm>
          <a:prstGeom prst="line">
            <a:avLst/>
          </a:prstGeom>
          <a:noFill/>
          <a:ln w="25400">
            <a:solidFill>
              <a:srgbClr val="6A6256"/>
            </a:solidFill>
            <a:prstDash val="solid"/>
            <a:headEnd type="none"/>
            <a:tailEnd type="triangle"/>
          </a:ln>
        </p:spPr>
      </p:sp>
      <p:sp>
        <p:nvSpPr>
          <p:cNvPr id="20" name="Shape 18"/>
          <p:cNvSpPr/>
          <p:nvPr/>
        </p:nvSpPr>
        <p:spPr>
          <a:xfrm>
            <a:off x="6263640" y="1444752"/>
            <a:ext cx="5166360" cy="1508760"/>
          </a:xfrm>
          <a:prstGeom prst="roundRect">
            <a:avLst>
              <a:gd name="adj" fmla="val 4848"/>
            </a:avLst>
          </a:prstGeom>
          <a:solidFill>
            <a:srgbClr val="EAF0F8"/>
          </a:solidFill>
          <a:ln w="12700">
            <a:solidFill>
              <a:srgbClr val="DED5C6"/>
            </a:solidFill>
            <a:prstDash val="solid"/>
          </a:ln>
        </p:spPr>
      </p:sp>
      <p:sp>
        <p:nvSpPr>
          <p:cNvPr id="21" name="Shape 19"/>
          <p:cNvSpPr/>
          <p:nvPr/>
        </p:nvSpPr>
        <p:spPr>
          <a:xfrm>
            <a:off x="6409944" y="1627632"/>
            <a:ext cx="82296" cy="1143000"/>
          </a:xfrm>
          <a:prstGeom prst="roundRect">
            <a:avLst/>
          </a:prstGeom>
          <a:solidFill>
            <a:srgbClr val="6B8EAA"/>
          </a:solidFill>
          <a:ln w="12700">
            <a:solidFill>
              <a:srgbClr val="6B8EAA">
                <a:alpha val="0"/>
              </a:srgbClr>
            </a:solidFill>
            <a:prstDash val="solid"/>
          </a:ln>
        </p:spPr>
      </p:sp>
      <p:sp>
        <p:nvSpPr>
          <p:cNvPr id="22" name="Text 20"/>
          <p:cNvSpPr txBox="1"/>
          <p:nvPr/>
        </p:nvSpPr>
        <p:spPr>
          <a:xfrm>
            <a:off x="6620256" y="1645920"/>
            <a:ext cx="4608576" cy="347472"/>
          </a:xfrm>
          <a:prstGeom prst="rect">
            <a:avLst/>
          </a:prstGeom>
          <a:noFill/>
          <a:ln/>
        </p:spPr>
        <p:txBody>
          <a:bodyPr wrap="square" lIns="0" tIns="0" rIns="0" bIns="0" rtlCol="0" anchor="ctr">
            <a:normAutofit/>
          </a:bodyPr>
          <a:lstStyle/>
          <a:p>
            <a:pPr marL="0" indent="0" algn="l">
              <a:buNone/>
            </a:pPr>
            <a:r>
              <a:rPr lang="en-US" sz="1600" b="1" dirty="0">
                <a:solidFill>
                  <a:srgbClr val="29261F"/>
                </a:solidFill>
                <a:latin typeface="Aptos" pitchFamily="34" charset="0"/>
                <a:ea typeface="Aptos" pitchFamily="34" charset="-122"/>
                <a:cs typeface="Aptos" pitchFamily="34" charset="-120"/>
              </a:rPr>
              <a:t>GRAPH  /  DISTRIBUTION NETWORK</a:t>
            </a:r>
            <a:endParaRPr lang="en-US" sz="1600" dirty="0"/>
          </a:p>
        </p:txBody>
      </p:sp>
      <p:sp>
        <p:nvSpPr>
          <p:cNvPr id="23" name="Text 21"/>
          <p:cNvSpPr txBox="1"/>
          <p:nvPr/>
        </p:nvSpPr>
        <p:spPr>
          <a:xfrm>
            <a:off x="6620256" y="2093976"/>
            <a:ext cx="4562856" cy="704088"/>
          </a:xfrm>
          <a:prstGeom prst="rect">
            <a:avLst/>
          </a:prstGeom>
          <a:noFill/>
          <a:ln/>
        </p:spPr>
        <p:txBody>
          <a:bodyPr wrap="square" lIns="0" tIns="0" rIns="0" bIns="0" rtlCol="0" anchor="t">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Dots are people or organizations. Lines are connections: donor ↔ food hub ↔ NGO.</a:t>
            </a:r>
            <a:endParaRPr lang="en-US" sz="1250" dirty="0"/>
          </a:p>
        </p:txBody>
      </p:sp>
      <p:sp>
        <p:nvSpPr>
          <p:cNvPr id="24" name="Shape 22"/>
          <p:cNvSpPr/>
          <p:nvPr/>
        </p:nvSpPr>
        <p:spPr>
          <a:xfrm flipV="1">
            <a:off x="7523989" y="3588702"/>
            <a:ext cx="913117" cy="233572"/>
          </a:xfrm>
          <a:prstGeom prst="line">
            <a:avLst/>
          </a:prstGeom>
          <a:noFill/>
          <a:ln w="25400">
            <a:solidFill>
              <a:srgbClr val="BDAA8B"/>
            </a:solidFill>
            <a:prstDash val="solid"/>
          </a:ln>
        </p:spPr>
      </p:sp>
      <p:sp>
        <p:nvSpPr>
          <p:cNvPr id="25" name="Shape 23"/>
          <p:cNvSpPr/>
          <p:nvPr/>
        </p:nvSpPr>
        <p:spPr>
          <a:xfrm>
            <a:off x="7301484" y="4170466"/>
            <a:ext cx="1344168" cy="603504"/>
          </a:xfrm>
          <a:prstGeom prst="line">
            <a:avLst/>
          </a:prstGeom>
          <a:noFill/>
          <a:ln w="25400">
            <a:solidFill>
              <a:srgbClr val="BDAA8B"/>
            </a:solidFill>
            <a:prstDash val="solid"/>
          </a:ln>
        </p:spPr>
      </p:sp>
      <p:sp>
        <p:nvSpPr>
          <p:cNvPr id="26" name="Shape 24"/>
          <p:cNvSpPr/>
          <p:nvPr/>
        </p:nvSpPr>
        <p:spPr>
          <a:xfrm>
            <a:off x="9015984" y="3525494"/>
            <a:ext cx="1463040" cy="585216"/>
          </a:xfrm>
          <a:prstGeom prst="line">
            <a:avLst/>
          </a:prstGeom>
          <a:noFill/>
          <a:ln w="25400">
            <a:solidFill>
              <a:srgbClr val="BDAA8B"/>
            </a:solidFill>
            <a:prstDash val="solid"/>
          </a:ln>
        </p:spPr>
      </p:sp>
      <p:sp>
        <p:nvSpPr>
          <p:cNvPr id="27" name="Shape 25"/>
          <p:cNvSpPr/>
          <p:nvPr/>
        </p:nvSpPr>
        <p:spPr>
          <a:xfrm flipV="1">
            <a:off x="9085767" y="4210733"/>
            <a:ext cx="1035678" cy="495378"/>
          </a:xfrm>
          <a:prstGeom prst="line">
            <a:avLst/>
          </a:prstGeom>
          <a:noFill/>
          <a:ln w="25400">
            <a:solidFill>
              <a:srgbClr val="BDAA8B"/>
            </a:solidFill>
            <a:prstDash val="solid"/>
          </a:ln>
        </p:spPr>
        <p:txBody>
          <a:bodyPr/>
          <a:lstStyle/>
          <a:p>
            <a:endParaRPr lang="en-IN" dirty="0"/>
          </a:p>
        </p:txBody>
      </p:sp>
      <p:sp>
        <p:nvSpPr>
          <p:cNvPr id="28" name="Shape 26"/>
          <p:cNvSpPr/>
          <p:nvPr/>
        </p:nvSpPr>
        <p:spPr>
          <a:xfrm>
            <a:off x="6922008" y="3662573"/>
            <a:ext cx="685800" cy="621792"/>
          </a:xfrm>
          <a:prstGeom prst="ellipse">
            <a:avLst/>
          </a:prstGeom>
          <a:solidFill>
            <a:srgbClr val="FFF4DC"/>
          </a:solidFill>
          <a:ln w="15240">
            <a:solidFill>
              <a:srgbClr val="BD7B1C"/>
            </a:solidFill>
            <a:prstDash val="solid"/>
          </a:ln>
        </p:spPr>
      </p:sp>
      <p:sp>
        <p:nvSpPr>
          <p:cNvPr id="29" name="Text 27"/>
          <p:cNvSpPr txBox="1"/>
          <p:nvPr/>
        </p:nvSpPr>
        <p:spPr>
          <a:xfrm>
            <a:off x="6806705" y="3862138"/>
            <a:ext cx="896112" cy="228600"/>
          </a:xfrm>
          <a:prstGeom prst="rect">
            <a:avLst/>
          </a:prstGeom>
          <a:noFill/>
          <a:ln/>
        </p:spPr>
        <p:txBody>
          <a:bodyPr wrap="square" lIns="0" tIns="0" rIns="0" bIns="0" rtlCol="0" anchor="ctr">
            <a:normAutofit/>
          </a:bodyPr>
          <a:lstStyle/>
          <a:p>
            <a:pPr marL="0" indent="0" algn="ctr">
              <a:buNone/>
            </a:pPr>
            <a:r>
              <a:rPr lang="en-US" sz="1050" b="1" dirty="0">
                <a:solidFill>
                  <a:srgbClr val="29261F"/>
                </a:solidFill>
                <a:latin typeface="Aptos" pitchFamily="34" charset="0"/>
                <a:ea typeface="Aptos" pitchFamily="34" charset="-122"/>
                <a:cs typeface="Aptos" pitchFamily="34" charset="-120"/>
              </a:rPr>
              <a:t>Hub</a:t>
            </a:r>
            <a:endParaRPr lang="en-US" sz="1050" dirty="0"/>
          </a:p>
        </p:txBody>
      </p:sp>
      <p:sp>
        <p:nvSpPr>
          <p:cNvPr id="30" name="Shape 28"/>
          <p:cNvSpPr/>
          <p:nvPr/>
        </p:nvSpPr>
        <p:spPr>
          <a:xfrm>
            <a:off x="8437106" y="3310610"/>
            <a:ext cx="685800" cy="621792"/>
          </a:xfrm>
          <a:prstGeom prst="ellipse">
            <a:avLst/>
          </a:prstGeom>
          <a:solidFill>
            <a:srgbClr val="E8F1E3"/>
          </a:solidFill>
          <a:ln w="15240">
            <a:solidFill>
              <a:srgbClr val="BD7B1C"/>
            </a:solidFill>
            <a:prstDash val="solid"/>
          </a:ln>
        </p:spPr>
      </p:sp>
      <p:sp>
        <p:nvSpPr>
          <p:cNvPr id="31" name="Text 29"/>
          <p:cNvSpPr txBox="1"/>
          <p:nvPr/>
        </p:nvSpPr>
        <p:spPr>
          <a:xfrm>
            <a:off x="8347992" y="3505202"/>
            <a:ext cx="896112" cy="228600"/>
          </a:xfrm>
          <a:prstGeom prst="rect">
            <a:avLst/>
          </a:prstGeom>
          <a:noFill/>
          <a:ln/>
        </p:spPr>
        <p:txBody>
          <a:bodyPr wrap="square" lIns="0" tIns="0" rIns="0" bIns="0" rtlCol="0" anchor="ctr">
            <a:normAutofit/>
          </a:bodyPr>
          <a:lstStyle/>
          <a:p>
            <a:pPr marL="0" indent="0" algn="ctr">
              <a:buNone/>
            </a:pPr>
            <a:r>
              <a:rPr lang="en-US" sz="1050" b="1" dirty="0">
                <a:solidFill>
                  <a:srgbClr val="29261F"/>
                </a:solidFill>
                <a:latin typeface="Aptos" pitchFamily="34" charset="0"/>
                <a:ea typeface="Aptos" pitchFamily="34" charset="-122"/>
                <a:cs typeface="Aptos" pitchFamily="34" charset="-120"/>
              </a:rPr>
              <a:t>Hotel</a:t>
            </a:r>
            <a:endParaRPr lang="en-US" sz="1050" dirty="0"/>
          </a:p>
        </p:txBody>
      </p:sp>
      <p:sp>
        <p:nvSpPr>
          <p:cNvPr id="32" name="Shape 30"/>
          <p:cNvSpPr/>
          <p:nvPr/>
        </p:nvSpPr>
        <p:spPr>
          <a:xfrm>
            <a:off x="8454511" y="4503580"/>
            <a:ext cx="685800" cy="621792"/>
          </a:xfrm>
          <a:prstGeom prst="ellipse">
            <a:avLst/>
          </a:prstGeom>
          <a:solidFill>
            <a:srgbClr val="E8F1E3"/>
          </a:solidFill>
          <a:ln w="15240">
            <a:solidFill>
              <a:srgbClr val="BD7B1C"/>
            </a:solidFill>
            <a:prstDash val="solid"/>
          </a:ln>
        </p:spPr>
      </p:sp>
      <p:sp>
        <p:nvSpPr>
          <p:cNvPr id="33" name="Text 31"/>
          <p:cNvSpPr txBox="1"/>
          <p:nvPr/>
        </p:nvSpPr>
        <p:spPr>
          <a:xfrm>
            <a:off x="8350237" y="4698089"/>
            <a:ext cx="896112" cy="228600"/>
          </a:xfrm>
          <a:prstGeom prst="rect">
            <a:avLst/>
          </a:prstGeom>
          <a:noFill/>
          <a:ln/>
        </p:spPr>
        <p:txBody>
          <a:bodyPr wrap="square" lIns="0" tIns="0" rIns="0" bIns="0" rtlCol="0" anchor="ctr">
            <a:normAutofit/>
          </a:bodyPr>
          <a:lstStyle/>
          <a:p>
            <a:pPr marL="0" indent="0" algn="ctr">
              <a:buNone/>
            </a:pPr>
            <a:r>
              <a:rPr lang="en-US" sz="1050" b="1" dirty="0">
                <a:solidFill>
                  <a:srgbClr val="29261F"/>
                </a:solidFill>
                <a:latin typeface="Aptos" pitchFamily="34" charset="0"/>
                <a:ea typeface="Aptos" pitchFamily="34" charset="-122"/>
                <a:cs typeface="Aptos" pitchFamily="34" charset="-120"/>
              </a:rPr>
              <a:t>Cafe</a:t>
            </a:r>
            <a:endParaRPr lang="en-US" sz="1050" dirty="0"/>
          </a:p>
        </p:txBody>
      </p:sp>
      <p:sp>
        <p:nvSpPr>
          <p:cNvPr id="34" name="Shape 32"/>
          <p:cNvSpPr/>
          <p:nvPr/>
        </p:nvSpPr>
        <p:spPr>
          <a:xfrm>
            <a:off x="10079977" y="3759789"/>
            <a:ext cx="685800" cy="621792"/>
          </a:xfrm>
          <a:prstGeom prst="ellipse">
            <a:avLst/>
          </a:prstGeom>
          <a:solidFill>
            <a:srgbClr val="EAF0F8"/>
          </a:solidFill>
          <a:ln w="15240">
            <a:solidFill>
              <a:srgbClr val="BD7B1C"/>
            </a:solidFill>
            <a:prstDash val="solid"/>
          </a:ln>
        </p:spPr>
      </p:sp>
      <p:sp>
        <p:nvSpPr>
          <p:cNvPr id="35" name="Text 33"/>
          <p:cNvSpPr txBox="1"/>
          <p:nvPr/>
        </p:nvSpPr>
        <p:spPr>
          <a:xfrm>
            <a:off x="10006905" y="3969860"/>
            <a:ext cx="896112" cy="228600"/>
          </a:xfrm>
          <a:prstGeom prst="rect">
            <a:avLst/>
          </a:prstGeom>
          <a:noFill/>
          <a:ln/>
        </p:spPr>
        <p:txBody>
          <a:bodyPr wrap="square" lIns="0" tIns="0" rIns="0" bIns="0" rtlCol="0" anchor="ctr">
            <a:normAutofit/>
          </a:bodyPr>
          <a:lstStyle/>
          <a:p>
            <a:pPr marL="0" indent="0" algn="ctr">
              <a:buNone/>
            </a:pPr>
            <a:r>
              <a:rPr lang="en-US" sz="1050" b="1" dirty="0">
                <a:solidFill>
                  <a:srgbClr val="29261F"/>
                </a:solidFill>
                <a:latin typeface="Aptos" pitchFamily="34" charset="0"/>
                <a:ea typeface="Aptos" pitchFamily="34" charset="-122"/>
                <a:cs typeface="Aptos" pitchFamily="34" charset="-120"/>
              </a:rPr>
              <a:t>NGO</a:t>
            </a:r>
            <a:endParaRPr lang="en-US" sz="1050" dirty="0"/>
          </a:p>
        </p:txBody>
      </p:sp>
      <p:sp>
        <p:nvSpPr>
          <p:cNvPr id="36" name="Shape 34"/>
          <p:cNvSpPr/>
          <p:nvPr/>
        </p:nvSpPr>
        <p:spPr>
          <a:xfrm>
            <a:off x="1003795" y="5513832"/>
            <a:ext cx="10625328" cy="658368"/>
          </a:xfrm>
          <a:prstGeom prst="roundRect">
            <a:avLst>
              <a:gd name="adj" fmla="val 11111"/>
            </a:avLst>
          </a:prstGeom>
          <a:solidFill>
            <a:srgbClr val="FFFFFF"/>
          </a:solidFill>
          <a:ln w="12700">
            <a:solidFill>
              <a:srgbClr val="DED5C6"/>
            </a:solidFill>
            <a:prstDash val="solid"/>
          </a:ln>
        </p:spPr>
      </p:sp>
      <p:sp>
        <p:nvSpPr>
          <p:cNvPr id="37" name="Text 35"/>
          <p:cNvSpPr txBox="1"/>
          <p:nvPr/>
        </p:nvSpPr>
        <p:spPr>
          <a:xfrm>
            <a:off x="975360" y="5688452"/>
            <a:ext cx="10241280" cy="292608"/>
          </a:xfrm>
          <a:prstGeom prst="rect">
            <a:avLst/>
          </a:prstGeom>
          <a:noFill/>
          <a:ln/>
        </p:spPr>
        <p:txBody>
          <a:bodyPr wrap="square" lIns="0" tIns="0" rIns="0" bIns="0" rtlCol="0" anchor="ctr">
            <a:normAutofit/>
          </a:bodyPr>
          <a:lstStyle/>
          <a:p>
            <a:pPr marL="0" indent="0" algn="ctr">
              <a:buNone/>
            </a:pPr>
            <a:r>
              <a:rPr lang="en-US" sz="1600" b="1" dirty="0">
                <a:solidFill>
                  <a:srgbClr val="29261F"/>
                </a:solidFill>
                <a:latin typeface="Aptos" pitchFamily="34" charset="0"/>
                <a:ea typeface="Aptos" pitchFamily="34" charset="-122"/>
                <a:cs typeface="Aptos" pitchFamily="34" charset="-120"/>
              </a:rPr>
              <a:t>BFS = explore nearby links first     •     DFS = follow one path deeply, then backtrack</a:t>
            </a:r>
            <a:endParaRPr lang="en-US" sz="1600" dirty="0"/>
          </a:p>
        </p:txBody>
      </p:sp>
      <p:sp>
        <p:nvSpPr>
          <p:cNvPr id="38"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Live demo: show the C structures at work</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Open /c-demo and follow this short sequence</a:t>
            </a:r>
            <a:endParaRPr lang="en-US" sz="1250" dirty="0"/>
          </a:p>
        </p:txBody>
      </p:sp>
      <p:sp>
        <p:nvSpPr>
          <p:cNvPr id="4" name="Shape 2"/>
          <p:cNvSpPr/>
          <p:nvPr/>
        </p:nvSpPr>
        <p:spPr>
          <a:xfrm>
            <a:off x="822960" y="1417320"/>
            <a:ext cx="10515600" cy="621792"/>
          </a:xfrm>
          <a:prstGeom prst="roundRect">
            <a:avLst>
              <a:gd name="adj" fmla="val 11765"/>
            </a:avLst>
          </a:prstGeom>
          <a:solidFill>
            <a:srgbClr val="FFFFFF"/>
          </a:solidFill>
          <a:ln w="12700">
            <a:solidFill>
              <a:srgbClr val="DED5C6"/>
            </a:solidFill>
            <a:prstDash val="solid"/>
          </a:ln>
        </p:spPr>
      </p:sp>
      <p:sp>
        <p:nvSpPr>
          <p:cNvPr id="5" name="Shape 3"/>
          <p:cNvSpPr/>
          <p:nvPr/>
        </p:nvSpPr>
        <p:spPr>
          <a:xfrm>
            <a:off x="987552" y="1536192"/>
            <a:ext cx="384048" cy="384048"/>
          </a:xfrm>
          <a:prstGeom prst="ellipse">
            <a:avLst/>
          </a:prstGeom>
          <a:solidFill>
            <a:srgbClr val="FFFFFF"/>
          </a:solidFill>
          <a:ln w="12700">
            <a:solidFill>
              <a:srgbClr val="BD7B1C"/>
            </a:solidFill>
            <a:prstDash val="solid"/>
          </a:ln>
        </p:spPr>
      </p:sp>
      <p:sp>
        <p:nvSpPr>
          <p:cNvPr id="6" name="Text 4"/>
          <p:cNvSpPr txBox="1"/>
          <p:nvPr/>
        </p:nvSpPr>
        <p:spPr>
          <a:xfrm>
            <a:off x="987552" y="1618488"/>
            <a:ext cx="384048" cy="164592"/>
          </a:xfrm>
          <a:prstGeom prst="rect">
            <a:avLst/>
          </a:prstGeom>
          <a:noFill/>
          <a:ln/>
        </p:spPr>
        <p:txBody>
          <a:bodyPr wrap="square" lIns="0" tIns="0" rIns="0" bIns="0" rtlCol="0" anchor="ctr">
            <a:normAutofit/>
          </a:bodyPr>
          <a:lstStyle/>
          <a:p>
            <a:pPr marL="0" indent="0" algn="ctr">
              <a:buNone/>
            </a:pPr>
            <a:r>
              <a:rPr lang="en-US" sz="900" b="1" dirty="0">
                <a:solidFill>
                  <a:srgbClr val="BD7B1C"/>
                </a:solidFill>
                <a:latin typeface="Aptos" pitchFamily="34" charset="0"/>
                <a:ea typeface="Aptos" pitchFamily="34" charset="-122"/>
                <a:cs typeface="Aptos" pitchFamily="34" charset="-120"/>
              </a:rPr>
              <a:t>01</a:t>
            </a:r>
            <a:endParaRPr lang="en-US" sz="900" dirty="0"/>
          </a:p>
        </p:txBody>
      </p:sp>
      <p:sp>
        <p:nvSpPr>
          <p:cNvPr id="7" name="Text 5"/>
          <p:cNvSpPr txBox="1"/>
          <p:nvPr/>
        </p:nvSpPr>
        <p:spPr>
          <a:xfrm>
            <a:off x="1581912" y="1536192"/>
            <a:ext cx="196596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Check connection</a:t>
            </a:r>
            <a:endParaRPr lang="en-US" sz="1500" dirty="0"/>
          </a:p>
        </p:txBody>
      </p:sp>
      <p:sp>
        <p:nvSpPr>
          <p:cNvPr id="8" name="Text 6"/>
          <p:cNvSpPr txBox="1"/>
          <p:nvPr/>
        </p:nvSpPr>
        <p:spPr>
          <a:xfrm>
            <a:off x="3730752" y="1545336"/>
            <a:ext cx="7223760" cy="274320"/>
          </a:xfrm>
          <a:prstGeom prst="rect">
            <a:avLst/>
          </a:prstGeom>
          <a:noFill/>
          <a:ln/>
        </p:spPr>
        <p:txBody>
          <a:bodyPr wrap="square" lIns="0" tIns="0" rIns="0" bIns="0" rtlCol="0" anchor="ctr">
            <a:normAutofit/>
          </a:bodyPr>
          <a:lstStyle/>
          <a:p>
            <a:pPr marL="0" indent="0" algn="l">
              <a:buNone/>
            </a:pPr>
            <a:r>
              <a:rPr lang="en-US" sz="1300" dirty="0">
                <a:solidFill>
                  <a:srgbClr val="6A6256"/>
                </a:solidFill>
                <a:latin typeface="Aptos" pitchFamily="34" charset="0"/>
                <a:ea typeface="Aptos" pitchFamily="34" charset="-122"/>
                <a:cs typeface="Aptos" pitchFamily="34" charset="-120"/>
              </a:rPr>
              <a:t>Wait for “C API connected”.</a:t>
            </a:r>
            <a:endParaRPr lang="en-US" sz="1300" dirty="0"/>
          </a:p>
        </p:txBody>
      </p:sp>
      <p:sp>
        <p:nvSpPr>
          <p:cNvPr id="9" name="Shape 7"/>
          <p:cNvSpPr/>
          <p:nvPr/>
        </p:nvSpPr>
        <p:spPr>
          <a:xfrm>
            <a:off x="822960" y="2212848"/>
            <a:ext cx="10515600" cy="621792"/>
          </a:xfrm>
          <a:prstGeom prst="roundRect">
            <a:avLst>
              <a:gd name="adj" fmla="val 11765"/>
            </a:avLst>
          </a:prstGeom>
          <a:solidFill>
            <a:srgbClr val="FFFFFF"/>
          </a:solidFill>
          <a:ln w="12700">
            <a:solidFill>
              <a:srgbClr val="DED5C6"/>
            </a:solidFill>
            <a:prstDash val="solid"/>
          </a:ln>
        </p:spPr>
      </p:sp>
      <p:sp>
        <p:nvSpPr>
          <p:cNvPr id="10" name="Shape 8"/>
          <p:cNvSpPr/>
          <p:nvPr/>
        </p:nvSpPr>
        <p:spPr>
          <a:xfrm>
            <a:off x="987552" y="2331720"/>
            <a:ext cx="384048" cy="384048"/>
          </a:xfrm>
          <a:prstGeom prst="ellipse">
            <a:avLst/>
          </a:prstGeom>
          <a:solidFill>
            <a:srgbClr val="FFFFFF"/>
          </a:solidFill>
          <a:ln w="12700">
            <a:solidFill>
              <a:srgbClr val="BD7B1C"/>
            </a:solidFill>
            <a:prstDash val="solid"/>
          </a:ln>
        </p:spPr>
      </p:sp>
      <p:sp>
        <p:nvSpPr>
          <p:cNvPr id="11" name="Text 9"/>
          <p:cNvSpPr txBox="1"/>
          <p:nvPr/>
        </p:nvSpPr>
        <p:spPr>
          <a:xfrm>
            <a:off x="987552" y="2414016"/>
            <a:ext cx="384048" cy="164592"/>
          </a:xfrm>
          <a:prstGeom prst="rect">
            <a:avLst/>
          </a:prstGeom>
          <a:noFill/>
          <a:ln/>
        </p:spPr>
        <p:txBody>
          <a:bodyPr wrap="square" lIns="0" tIns="0" rIns="0" bIns="0" rtlCol="0" anchor="ctr">
            <a:normAutofit/>
          </a:bodyPr>
          <a:lstStyle/>
          <a:p>
            <a:pPr marL="0" indent="0" algn="ctr">
              <a:buNone/>
            </a:pPr>
            <a:r>
              <a:rPr lang="en-US" sz="900" b="1" dirty="0">
                <a:solidFill>
                  <a:srgbClr val="BD7B1C"/>
                </a:solidFill>
                <a:latin typeface="Aptos" pitchFamily="34" charset="0"/>
                <a:ea typeface="Aptos" pitchFamily="34" charset="-122"/>
                <a:cs typeface="Aptos" pitchFamily="34" charset="-120"/>
              </a:rPr>
              <a:t>02</a:t>
            </a:r>
            <a:endParaRPr lang="en-US" sz="900" dirty="0"/>
          </a:p>
        </p:txBody>
      </p:sp>
      <p:sp>
        <p:nvSpPr>
          <p:cNvPr id="12" name="Text 10"/>
          <p:cNvSpPr txBox="1"/>
          <p:nvPr/>
        </p:nvSpPr>
        <p:spPr>
          <a:xfrm>
            <a:off x="1581912" y="2331720"/>
            <a:ext cx="196596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Load example</a:t>
            </a:r>
            <a:endParaRPr lang="en-US" sz="1500" dirty="0"/>
          </a:p>
        </p:txBody>
      </p:sp>
      <p:sp>
        <p:nvSpPr>
          <p:cNvPr id="13" name="Text 11"/>
          <p:cNvSpPr txBox="1"/>
          <p:nvPr/>
        </p:nvSpPr>
        <p:spPr>
          <a:xfrm>
            <a:off x="3730752" y="2340864"/>
            <a:ext cx="7223760" cy="274320"/>
          </a:xfrm>
          <a:prstGeom prst="rect">
            <a:avLst/>
          </a:prstGeom>
          <a:noFill/>
          <a:ln/>
        </p:spPr>
        <p:txBody>
          <a:bodyPr wrap="square" lIns="0" tIns="0" rIns="0" bIns="0" rtlCol="0" anchor="ctr">
            <a:normAutofit/>
          </a:bodyPr>
          <a:lstStyle/>
          <a:p>
            <a:pPr marL="0" indent="0" algn="l">
              <a:buNone/>
            </a:pPr>
            <a:r>
              <a:rPr lang="en-US" sz="1300" dirty="0">
                <a:solidFill>
                  <a:srgbClr val="6A6256"/>
                </a:solidFill>
                <a:latin typeface="Aptos" pitchFamily="34" charset="0"/>
                <a:ea typeface="Aptos" pitchFamily="34" charset="-122"/>
                <a:cs typeface="Aptos" pitchFamily="34" charset="-120"/>
              </a:rPr>
              <a:t>Click “Load complete example”.</a:t>
            </a:r>
            <a:endParaRPr lang="en-US" sz="1300" dirty="0"/>
          </a:p>
        </p:txBody>
      </p:sp>
      <p:sp>
        <p:nvSpPr>
          <p:cNvPr id="14" name="Shape 12"/>
          <p:cNvSpPr/>
          <p:nvPr/>
        </p:nvSpPr>
        <p:spPr>
          <a:xfrm>
            <a:off x="822960" y="3008376"/>
            <a:ext cx="10515600" cy="621792"/>
          </a:xfrm>
          <a:prstGeom prst="roundRect">
            <a:avLst>
              <a:gd name="adj" fmla="val 11765"/>
            </a:avLst>
          </a:prstGeom>
          <a:solidFill>
            <a:srgbClr val="FFFFFF"/>
          </a:solidFill>
          <a:ln w="12700">
            <a:solidFill>
              <a:srgbClr val="DED5C6"/>
            </a:solidFill>
            <a:prstDash val="solid"/>
          </a:ln>
        </p:spPr>
      </p:sp>
      <p:sp>
        <p:nvSpPr>
          <p:cNvPr id="15" name="Shape 13"/>
          <p:cNvSpPr/>
          <p:nvPr/>
        </p:nvSpPr>
        <p:spPr>
          <a:xfrm>
            <a:off x="987552" y="3127248"/>
            <a:ext cx="384048" cy="384048"/>
          </a:xfrm>
          <a:prstGeom prst="ellipse">
            <a:avLst/>
          </a:prstGeom>
          <a:solidFill>
            <a:srgbClr val="FFFFFF"/>
          </a:solidFill>
          <a:ln w="12700">
            <a:solidFill>
              <a:srgbClr val="BD7B1C"/>
            </a:solidFill>
            <a:prstDash val="solid"/>
          </a:ln>
        </p:spPr>
      </p:sp>
      <p:sp>
        <p:nvSpPr>
          <p:cNvPr id="16" name="Text 14"/>
          <p:cNvSpPr txBox="1"/>
          <p:nvPr/>
        </p:nvSpPr>
        <p:spPr>
          <a:xfrm>
            <a:off x="987552" y="3209544"/>
            <a:ext cx="384048" cy="164592"/>
          </a:xfrm>
          <a:prstGeom prst="rect">
            <a:avLst/>
          </a:prstGeom>
          <a:noFill/>
          <a:ln/>
        </p:spPr>
        <p:txBody>
          <a:bodyPr wrap="square" lIns="0" tIns="0" rIns="0" bIns="0" rtlCol="0" anchor="ctr">
            <a:normAutofit/>
          </a:bodyPr>
          <a:lstStyle/>
          <a:p>
            <a:pPr marL="0" indent="0" algn="ctr">
              <a:buNone/>
            </a:pPr>
            <a:r>
              <a:rPr lang="en-US" sz="900" b="1" dirty="0">
                <a:solidFill>
                  <a:srgbClr val="BD7B1C"/>
                </a:solidFill>
                <a:latin typeface="Aptos" pitchFamily="34" charset="0"/>
                <a:ea typeface="Aptos" pitchFamily="34" charset="-122"/>
                <a:cs typeface="Aptos" pitchFamily="34" charset="-120"/>
              </a:rPr>
              <a:t>03</a:t>
            </a:r>
            <a:endParaRPr lang="en-US" sz="900" dirty="0"/>
          </a:p>
        </p:txBody>
      </p:sp>
      <p:sp>
        <p:nvSpPr>
          <p:cNvPr id="17" name="Text 15"/>
          <p:cNvSpPr txBox="1"/>
          <p:nvPr/>
        </p:nvSpPr>
        <p:spPr>
          <a:xfrm>
            <a:off x="1581912" y="3127248"/>
            <a:ext cx="196596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Compare order</a:t>
            </a:r>
            <a:endParaRPr lang="en-US" sz="1500" dirty="0"/>
          </a:p>
        </p:txBody>
      </p:sp>
      <p:sp>
        <p:nvSpPr>
          <p:cNvPr id="18" name="Text 16"/>
          <p:cNvSpPr txBox="1"/>
          <p:nvPr/>
        </p:nvSpPr>
        <p:spPr>
          <a:xfrm>
            <a:off x="3730752" y="3136392"/>
            <a:ext cx="7223760" cy="274320"/>
          </a:xfrm>
          <a:prstGeom prst="rect">
            <a:avLst/>
          </a:prstGeom>
          <a:noFill/>
          <a:ln/>
        </p:spPr>
        <p:txBody>
          <a:bodyPr wrap="square" lIns="0" tIns="0" rIns="0" bIns="0" rtlCol="0" anchor="ctr">
            <a:normAutofit/>
          </a:bodyPr>
          <a:lstStyle/>
          <a:p>
            <a:pPr marL="0" indent="0" algn="l">
              <a:buNone/>
            </a:pPr>
            <a:r>
              <a:rPr lang="en-US" sz="1300" dirty="0">
                <a:solidFill>
                  <a:srgbClr val="6A6256"/>
                </a:solidFill>
                <a:latin typeface="Aptos" pitchFamily="34" charset="0"/>
                <a:ea typeface="Aptos" pitchFamily="34" charset="-122"/>
                <a:cs typeface="Aptos" pitchFamily="34" charset="-120"/>
              </a:rPr>
              <a:t>Point out heap, FIFO queue, and dispatch deque.</a:t>
            </a:r>
            <a:endParaRPr lang="en-US" sz="1300" dirty="0"/>
          </a:p>
        </p:txBody>
      </p:sp>
      <p:sp>
        <p:nvSpPr>
          <p:cNvPr id="19" name="Shape 17"/>
          <p:cNvSpPr/>
          <p:nvPr/>
        </p:nvSpPr>
        <p:spPr>
          <a:xfrm>
            <a:off x="822960" y="3803904"/>
            <a:ext cx="10515600" cy="621792"/>
          </a:xfrm>
          <a:prstGeom prst="roundRect">
            <a:avLst>
              <a:gd name="adj" fmla="val 11765"/>
            </a:avLst>
          </a:prstGeom>
          <a:solidFill>
            <a:srgbClr val="FFFFFF"/>
          </a:solidFill>
          <a:ln w="12700">
            <a:solidFill>
              <a:srgbClr val="DED5C6"/>
            </a:solidFill>
            <a:prstDash val="solid"/>
          </a:ln>
        </p:spPr>
      </p:sp>
      <p:sp>
        <p:nvSpPr>
          <p:cNvPr id="20" name="Shape 18"/>
          <p:cNvSpPr/>
          <p:nvPr/>
        </p:nvSpPr>
        <p:spPr>
          <a:xfrm>
            <a:off x="987552" y="3922776"/>
            <a:ext cx="384048" cy="384048"/>
          </a:xfrm>
          <a:prstGeom prst="ellipse">
            <a:avLst/>
          </a:prstGeom>
          <a:solidFill>
            <a:srgbClr val="FFFFFF"/>
          </a:solidFill>
          <a:ln w="12700">
            <a:solidFill>
              <a:srgbClr val="BD7B1C"/>
            </a:solidFill>
            <a:prstDash val="solid"/>
          </a:ln>
        </p:spPr>
      </p:sp>
      <p:sp>
        <p:nvSpPr>
          <p:cNvPr id="21" name="Text 19"/>
          <p:cNvSpPr txBox="1"/>
          <p:nvPr/>
        </p:nvSpPr>
        <p:spPr>
          <a:xfrm>
            <a:off x="987552" y="4005072"/>
            <a:ext cx="384048" cy="164592"/>
          </a:xfrm>
          <a:prstGeom prst="rect">
            <a:avLst/>
          </a:prstGeom>
          <a:noFill/>
          <a:ln/>
        </p:spPr>
        <p:txBody>
          <a:bodyPr wrap="square" lIns="0" tIns="0" rIns="0" bIns="0" rtlCol="0" anchor="ctr">
            <a:normAutofit/>
          </a:bodyPr>
          <a:lstStyle/>
          <a:p>
            <a:pPr marL="0" indent="0" algn="ctr">
              <a:buNone/>
            </a:pPr>
            <a:r>
              <a:rPr lang="en-US" sz="900" b="1" dirty="0">
                <a:solidFill>
                  <a:srgbClr val="BD7B1C"/>
                </a:solidFill>
                <a:latin typeface="Aptos" pitchFamily="34" charset="0"/>
                <a:ea typeface="Aptos" pitchFamily="34" charset="-122"/>
                <a:cs typeface="Aptos" pitchFamily="34" charset="-120"/>
              </a:rPr>
              <a:t>04</a:t>
            </a:r>
            <a:endParaRPr lang="en-US" sz="900" dirty="0"/>
          </a:p>
        </p:txBody>
      </p:sp>
      <p:sp>
        <p:nvSpPr>
          <p:cNvPr id="22" name="Text 20"/>
          <p:cNvSpPr txBox="1"/>
          <p:nvPr/>
        </p:nvSpPr>
        <p:spPr>
          <a:xfrm>
            <a:off x="1581912" y="3922776"/>
            <a:ext cx="196596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Search</a:t>
            </a:r>
            <a:endParaRPr lang="en-US" sz="1500" dirty="0"/>
          </a:p>
        </p:txBody>
      </p:sp>
      <p:sp>
        <p:nvSpPr>
          <p:cNvPr id="23" name="Text 21"/>
          <p:cNvSpPr txBox="1"/>
          <p:nvPr/>
        </p:nvSpPr>
        <p:spPr>
          <a:xfrm>
            <a:off x="3730752" y="3931920"/>
            <a:ext cx="7223760" cy="274320"/>
          </a:xfrm>
          <a:prstGeom prst="rect">
            <a:avLst/>
          </a:prstGeom>
          <a:noFill/>
          <a:ln/>
        </p:spPr>
        <p:txBody>
          <a:bodyPr wrap="square" lIns="0" tIns="0" rIns="0" bIns="0" rtlCol="0" anchor="ctr">
            <a:normAutofit/>
          </a:bodyPr>
          <a:lstStyle/>
          <a:p>
            <a:pPr marL="0" indent="0" algn="l">
              <a:buNone/>
            </a:pPr>
            <a:r>
              <a:rPr lang="en-US" sz="1300" dirty="0">
                <a:solidFill>
                  <a:srgbClr val="6A6256"/>
                </a:solidFill>
                <a:latin typeface="Aptos" pitchFamily="34" charset="0"/>
                <a:ea typeface="Aptos" pitchFamily="34" charset="-122"/>
                <a:cs typeface="Aptos" pitchFamily="34" charset="-120"/>
              </a:rPr>
              <a:t>Try “Breakfast packs” in BST search.</a:t>
            </a:r>
            <a:endParaRPr lang="en-US" sz="1300" dirty="0"/>
          </a:p>
        </p:txBody>
      </p:sp>
      <p:sp>
        <p:nvSpPr>
          <p:cNvPr id="24" name="Shape 22"/>
          <p:cNvSpPr/>
          <p:nvPr/>
        </p:nvSpPr>
        <p:spPr>
          <a:xfrm>
            <a:off x="822960" y="4599432"/>
            <a:ext cx="10515600" cy="621792"/>
          </a:xfrm>
          <a:prstGeom prst="roundRect">
            <a:avLst>
              <a:gd name="adj" fmla="val 11765"/>
            </a:avLst>
          </a:prstGeom>
          <a:solidFill>
            <a:srgbClr val="FFFFFF"/>
          </a:solidFill>
          <a:ln w="12700">
            <a:solidFill>
              <a:srgbClr val="DED5C6"/>
            </a:solidFill>
            <a:prstDash val="solid"/>
          </a:ln>
        </p:spPr>
      </p:sp>
      <p:sp>
        <p:nvSpPr>
          <p:cNvPr id="25" name="Shape 23"/>
          <p:cNvSpPr/>
          <p:nvPr/>
        </p:nvSpPr>
        <p:spPr>
          <a:xfrm>
            <a:off x="987552" y="4718304"/>
            <a:ext cx="384048" cy="384048"/>
          </a:xfrm>
          <a:prstGeom prst="ellipse">
            <a:avLst/>
          </a:prstGeom>
          <a:solidFill>
            <a:srgbClr val="FFFFFF"/>
          </a:solidFill>
          <a:ln w="12700">
            <a:solidFill>
              <a:srgbClr val="BD7B1C"/>
            </a:solidFill>
            <a:prstDash val="solid"/>
          </a:ln>
        </p:spPr>
      </p:sp>
      <p:sp>
        <p:nvSpPr>
          <p:cNvPr id="26" name="Text 24"/>
          <p:cNvSpPr txBox="1"/>
          <p:nvPr/>
        </p:nvSpPr>
        <p:spPr>
          <a:xfrm>
            <a:off x="987552" y="4800600"/>
            <a:ext cx="384048" cy="164592"/>
          </a:xfrm>
          <a:prstGeom prst="rect">
            <a:avLst/>
          </a:prstGeom>
          <a:noFill/>
          <a:ln/>
        </p:spPr>
        <p:txBody>
          <a:bodyPr wrap="square" lIns="0" tIns="0" rIns="0" bIns="0" rtlCol="0" anchor="ctr">
            <a:normAutofit/>
          </a:bodyPr>
          <a:lstStyle/>
          <a:p>
            <a:pPr marL="0" indent="0" algn="ctr">
              <a:buNone/>
            </a:pPr>
            <a:r>
              <a:rPr lang="en-US" sz="900" b="1" dirty="0">
                <a:solidFill>
                  <a:srgbClr val="BD7B1C"/>
                </a:solidFill>
                <a:latin typeface="Aptos" pitchFamily="34" charset="0"/>
                <a:ea typeface="Aptos" pitchFamily="34" charset="-122"/>
                <a:cs typeface="Aptos" pitchFamily="34" charset="-120"/>
              </a:rPr>
              <a:t>05</a:t>
            </a:r>
            <a:endParaRPr lang="en-US" sz="900" dirty="0"/>
          </a:p>
        </p:txBody>
      </p:sp>
      <p:sp>
        <p:nvSpPr>
          <p:cNvPr id="27" name="Text 25"/>
          <p:cNvSpPr txBox="1"/>
          <p:nvPr/>
        </p:nvSpPr>
        <p:spPr>
          <a:xfrm>
            <a:off x="1581912" y="4718304"/>
            <a:ext cx="196596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Traverse</a:t>
            </a:r>
            <a:endParaRPr lang="en-US" sz="1500" dirty="0"/>
          </a:p>
        </p:txBody>
      </p:sp>
      <p:sp>
        <p:nvSpPr>
          <p:cNvPr id="28" name="Text 26"/>
          <p:cNvSpPr txBox="1"/>
          <p:nvPr/>
        </p:nvSpPr>
        <p:spPr>
          <a:xfrm>
            <a:off x="3730752" y="4727448"/>
            <a:ext cx="7223760" cy="274320"/>
          </a:xfrm>
          <a:prstGeom prst="rect">
            <a:avLst/>
          </a:prstGeom>
          <a:noFill/>
          <a:ln/>
        </p:spPr>
        <p:txBody>
          <a:bodyPr wrap="square" lIns="0" tIns="0" rIns="0" bIns="0" rtlCol="0" anchor="ctr">
            <a:normAutofit/>
          </a:bodyPr>
          <a:lstStyle/>
          <a:p>
            <a:pPr marL="0" indent="0" algn="l">
              <a:buNone/>
            </a:pPr>
            <a:r>
              <a:rPr lang="en-US" sz="1300" dirty="0">
                <a:solidFill>
                  <a:srgbClr val="6A6256"/>
                </a:solidFill>
                <a:latin typeface="Aptos" pitchFamily="34" charset="0"/>
                <a:ea typeface="Aptos" pitchFamily="34" charset="-122"/>
                <a:cs typeface="Aptos" pitchFamily="34" charset="-120"/>
              </a:rPr>
              <a:t>Select a graph node; compare BFS + DFS.</a:t>
            </a:r>
            <a:endParaRPr lang="en-US" sz="1300" dirty="0"/>
          </a:p>
        </p:txBody>
      </p:sp>
      <p:sp>
        <p:nvSpPr>
          <p:cNvPr id="29" name="Shape 27"/>
          <p:cNvSpPr/>
          <p:nvPr/>
        </p:nvSpPr>
        <p:spPr>
          <a:xfrm>
            <a:off x="822960" y="5577840"/>
            <a:ext cx="10515600" cy="566928"/>
          </a:xfrm>
          <a:prstGeom prst="roundRect">
            <a:avLst>
              <a:gd name="adj" fmla="val 12903"/>
            </a:avLst>
          </a:prstGeom>
          <a:solidFill>
            <a:srgbClr val="EAF0F8"/>
          </a:solidFill>
          <a:ln w="12700">
            <a:solidFill>
              <a:srgbClr val="DED5C6"/>
            </a:solidFill>
            <a:prstDash val="solid"/>
          </a:ln>
        </p:spPr>
      </p:sp>
      <p:sp>
        <p:nvSpPr>
          <p:cNvPr id="30" name="Shape 28"/>
          <p:cNvSpPr/>
          <p:nvPr/>
        </p:nvSpPr>
        <p:spPr>
          <a:xfrm>
            <a:off x="969264" y="5760720"/>
            <a:ext cx="82296" cy="201168"/>
          </a:xfrm>
          <a:prstGeom prst="roundRect">
            <a:avLst/>
          </a:prstGeom>
          <a:solidFill>
            <a:srgbClr val="6B8EAA"/>
          </a:solidFill>
          <a:ln w="12700">
            <a:solidFill>
              <a:srgbClr val="6B8EAA">
                <a:alpha val="0"/>
              </a:srgbClr>
            </a:solidFill>
            <a:prstDash val="solid"/>
          </a:ln>
        </p:spPr>
      </p:sp>
      <p:sp>
        <p:nvSpPr>
          <p:cNvPr id="31" name="Text 29"/>
          <p:cNvSpPr txBox="1"/>
          <p:nvPr/>
        </p:nvSpPr>
        <p:spPr>
          <a:xfrm>
            <a:off x="1155513" y="5578483"/>
            <a:ext cx="9957816" cy="347472"/>
          </a:xfrm>
          <a:prstGeom prst="rect">
            <a:avLst/>
          </a:prstGeom>
          <a:noFill/>
          <a:ln/>
        </p:spPr>
        <p:txBody>
          <a:bodyPr wrap="square" lIns="0" tIns="0" rIns="0" bIns="0" rtlCol="0" anchor="ctr">
            <a:normAutofit/>
          </a:bodyPr>
          <a:lstStyle/>
          <a:p>
            <a:pPr marL="0" indent="0" algn="l">
              <a:buNone/>
            </a:pPr>
            <a:r>
              <a:rPr lang="en-US" sz="1300" b="1" dirty="0">
                <a:solidFill>
                  <a:srgbClr val="29261F"/>
                </a:solidFill>
                <a:latin typeface="Aptos" pitchFamily="34" charset="0"/>
                <a:ea typeface="Aptos" pitchFamily="34" charset="-122"/>
                <a:cs typeface="Aptos" pitchFamily="34" charset="-120"/>
              </a:rPr>
              <a:t>Demo tip</a:t>
            </a:r>
            <a:endParaRPr lang="en-US" sz="1300" dirty="0"/>
          </a:p>
        </p:txBody>
      </p:sp>
      <p:sp>
        <p:nvSpPr>
          <p:cNvPr id="32" name="Text 30"/>
          <p:cNvSpPr txBox="1"/>
          <p:nvPr/>
        </p:nvSpPr>
        <p:spPr>
          <a:xfrm>
            <a:off x="1157919" y="5862107"/>
            <a:ext cx="9957816" cy="220579"/>
          </a:xfrm>
          <a:prstGeom prst="rect">
            <a:avLst/>
          </a:prstGeom>
          <a:noFill/>
          <a:ln/>
        </p:spPr>
        <p:txBody>
          <a:bodyPr wrap="square" lIns="0" tIns="0" rIns="0" bIns="0" rtlCol="0" anchor="t">
            <a:normAutofit/>
          </a:bodyPr>
          <a:lstStyle/>
          <a:p>
            <a:pPr marL="0" indent="0" algn="l">
              <a:buNone/>
            </a:pPr>
            <a:r>
              <a:rPr lang="en-US" sz="1050" dirty="0">
                <a:solidFill>
                  <a:srgbClr val="6A6256"/>
                </a:solidFill>
                <a:latin typeface="Aptos" pitchFamily="34" charset="0"/>
                <a:ea typeface="Aptos" pitchFamily="34" charset="-122"/>
                <a:cs typeface="Aptos" pitchFamily="34" charset="-120"/>
              </a:rPr>
              <a:t>Render’s free API may need time to wake after inactivity. Stay on FoodShare and wait; visitors do not need to open Render.</a:t>
            </a:r>
            <a:endParaRPr lang="en-US" sz="1050" dirty="0"/>
          </a:p>
        </p:txBody>
      </p:sp>
      <p:sp>
        <p:nvSpPr>
          <p:cNvPr id="33"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56616"/>
            <a:ext cx="11109960" cy="475488"/>
          </a:xfrm>
          <a:prstGeom prst="rect">
            <a:avLst/>
          </a:prstGeom>
          <a:noFill/>
          <a:ln/>
        </p:spPr>
        <p:txBody>
          <a:bodyPr wrap="square" lIns="0" tIns="0" rIns="0" bIns="0" rtlCol="0" anchor="ctr">
            <a:normAutofit/>
          </a:bodyPr>
          <a:lstStyle/>
          <a:p>
            <a:pPr marL="0" indent="0" algn="l">
              <a:buNone/>
            </a:pPr>
            <a:r>
              <a:rPr lang="en-US" sz="2800" b="1" dirty="0">
                <a:solidFill>
                  <a:srgbClr val="29261F"/>
                </a:solidFill>
                <a:latin typeface="Aptos" pitchFamily="34" charset="0"/>
                <a:ea typeface="Aptos" pitchFamily="34" charset="-122"/>
                <a:cs typeface="Aptos" pitchFamily="34" charset="-120"/>
              </a:rPr>
              <a:t>What works — and what is still a demo</a:t>
            </a:r>
            <a:endParaRPr lang="en-US" sz="2800" dirty="0"/>
          </a:p>
        </p:txBody>
      </p:sp>
      <p:sp>
        <p:nvSpPr>
          <p:cNvPr id="3" name="Text 1"/>
          <p:cNvSpPr txBox="1"/>
          <p:nvPr/>
        </p:nvSpPr>
        <p:spPr>
          <a:xfrm>
            <a:off x="566928" y="859536"/>
            <a:ext cx="11018520" cy="329184"/>
          </a:xfrm>
          <a:prstGeom prst="rect">
            <a:avLst/>
          </a:prstGeom>
          <a:noFill/>
          <a:ln/>
        </p:spPr>
        <p:txBody>
          <a:bodyPr wrap="square" lIns="0" tIns="0" rIns="0" bIns="0" rtlCol="0" anchor="ctr">
            <a:normAutofit/>
          </a:bodyPr>
          <a:lstStyle/>
          <a:p>
            <a:pPr marL="0" indent="0" algn="l">
              <a:buNone/>
            </a:pPr>
            <a:r>
              <a:rPr lang="en-US" sz="1250" dirty="0">
                <a:solidFill>
                  <a:srgbClr val="6A6256"/>
                </a:solidFill>
                <a:latin typeface="Aptos" pitchFamily="34" charset="0"/>
                <a:ea typeface="Aptos" pitchFamily="34" charset="-122"/>
                <a:cs typeface="Aptos" pitchFamily="34" charset="-120"/>
              </a:rPr>
              <a:t>Be clear about capabilities and limitations</a:t>
            </a:r>
            <a:endParaRPr lang="en-US" sz="1250" dirty="0"/>
          </a:p>
        </p:txBody>
      </p:sp>
      <p:sp>
        <p:nvSpPr>
          <p:cNvPr id="4" name="Shape 2"/>
          <p:cNvSpPr/>
          <p:nvPr/>
        </p:nvSpPr>
        <p:spPr>
          <a:xfrm>
            <a:off x="731520" y="1481328"/>
            <a:ext cx="5166360" cy="3383280"/>
          </a:xfrm>
          <a:prstGeom prst="roundRect">
            <a:avLst>
              <a:gd name="adj" fmla="val 2162"/>
            </a:avLst>
          </a:prstGeom>
          <a:solidFill>
            <a:srgbClr val="E8F1E3"/>
          </a:solidFill>
          <a:ln w="12700">
            <a:solidFill>
              <a:srgbClr val="DED5C6"/>
            </a:solidFill>
            <a:prstDash val="solid"/>
          </a:ln>
        </p:spPr>
      </p:sp>
      <p:sp>
        <p:nvSpPr>
          <p:cNvPr id="5" name="Shape 3"/>
          <p:cNvSpPr/>
          <p:nvPr/>
        </p:nvSpPr>
        <p:spPr>
          <a:xfrm>
            <a:off x="877824" y="1664208"/>
            <a:ext cx="82296" cy="3017520"/>
          </a:xfrm>
          <a:prstGeom prst="roundRect">
            <a:avLst/>
          </a:prstGeom>
          <a:solidFill>
            <a:srgbClr val="6C965F"/>
          </a:solidFill>
          <a:ln w="12700">
            <a:solidFill>
              <a:srgbClr val="6C965F">
                <a:alpha val="0"/>
              </a:srgbClr>
            </a:solidFill>
            <a:prstDash val="solid"/>
          </a:ln>
        </p:spPr>
      </p:sp>
      <p:sp>
        <p:nvSpPr>
          <p:cNvPr id="6" name="Text 4"/>
          <p:cNvSpPr txBox="1"/>
          <p:nvPr/>
        </p:nvSpPr>
        <p:spPr>
          <a:xfrm>
            <a:off x="1088136" y="1682496"/>
            <a:ext cx="4608576" cy="347472"/>
          </a:xfrm>
          <a:prstGeom prst="rect">
            <a:avLst/>
          </a:prstGeom>
          <a:noFill/>
          <a:ln/>
        </p:spPr>
        <p:txBody>
          <a:bodyPr wrap="square" lIns="0" tIns="0" rIns="0" bIns="0" rtlCol="0" anchor="ctr">
            <a:normAutofit/>
          </a:bodyPr>
          <a:lstStyle/>
          <a:p>
            <a:pPr marL="0" indent="0" algn="l">
              <a:buNone/>
            </a:pPr>
            <a:r>
              <a:rPr lang="en-US" sz="1900" b="1" dirty="0">
                <a:solidFill>
                  <a:srgbClr val="29261F"/>
                </a:solidFill>
                <a:latin typeface="Aptos" pitchFamily="34" charset="0"/>
                <a:ea typeface="Aptos" pitchFamily="34" charset="-122"/>
                <a:cs typeface="Aptos" pitchFamily="34" charset="-120"/>
              </a:rPr>
              <a:t>What it demonstrates</a:t>
            </a:r>
            <a:endParaRPr lang="en-US" sz="1900" dirty="0"/>
          </a:p>
        </p:txBody>
      </p:sp>
      <p:sp>
        <p:nvSpPr>
          <p:cNvPr id="7" name="Text 5"/>
          <p:cNvSpPr txBox="1"/>
          <p:nvPr/>
        </p:nvSpPr>
        <p:spPr>
          <a:xfrm>
            <a:off x="1088136" y="2130552"/>
            <a:ext cx="4562856" cy="2578608"/>
          </a:xfrm>
          <a:prstGeom prst="rect">
            <a:avLst/>
          </a:prstGeom>
          <a:noFill/>
          <a:ln/>
        </p:spPr>
        <p:txBody>
          <a:bodyPr wrap="square" lIns="0" tIns="0" rIns="0" bIns="0" rtlCol="0" anchor="t">
            <a:normAutofit/>
          </a:bodyPr>
          <a:lstStyle/>
          <a:p>
            <a:pPr marL="0" indent="0" algn="l">
              <a:buNone/>
            </a:pPr>
            <a:r>
              <a:rPr lang="en-US" sz="1400" dirty="0">
                <a:solidFill>
                  <a:srgbClr val="6A6256"/>
                </a:solidFill>
                <a:latin typeface="Aptos" pitchFamily="34" charset="0"/>
                <a:ea typeface="Aptos" pitchFamily="34" charset="-122"/>
                <a:cs typeface="Aptos" pitchFamily="34" charset="-120"/>
              </a:rPr>
              <a:t>• Donation and pickup workflow</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Expiry-aware ordering</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FIFO request order + editable dispatch</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ID lookup and balanced-tree visualization</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Delivery progress and graph traversal</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Native C API + browser UI</a:t>
            </a:r>
            <a:endParaRPr lang="en-US" sz="1400" dirty="0"/>
          </a:p>
        </p:txBody>
      </p:sp>
      <p:sp>
        <p:nvSpPr>
          <p:cNvPr id="8" name="Shape 6"/>
          <p:cNvSpPr/>
          <p:nvPr/>
        </p:nvSpPr>
        <p:spPr>
          <a:xfrm>
            <a:off x="6263640" y="1481328"/>
            <a:ext cx="5166360" cy="3383280"/>
          </a:xfrm>
          <a:prstGeom prst="roundRect">
            <a:avLst>
              <a:gd name="adj" fmla="val 2162"/>
            </a:avLst>
          </a:prstGeom>
          <a:solidFill>
            <a:srgbClr val="FAE9E5"/>
          </a:solidFill>
          <a:ln w="12700">
            <a:solidFill>
              <a:srgbClr val="DED5C6"/>
            </a:solidFill>
            <a:prstDash val="solid"/>
          </a:ln>
        </p:spPr>
      </p:sp>
      <p:sp>
        <p:nvSpPr>
          <p:cNvPr id="9" name="Shape 7"/>
          <p:cNvSpPr/>
          <p:nvPr/>
        </p:nvSpPr>
        <p:spPr>
          <a:xfrm>
            <a:off x="6409944" y="1664208"/>
            <a:ext cx="82296" cy="3017520"/>
          </a:xfrm>
          <a:prstGeom prst="roundRect">
            <a:avLst/>
          </a:prstGeom>
          <a:solidFill>
            <a:srgbClr val="C46E5E"/>
          </a:solidFill>
          <a:ln w="12700">
            <a:solidFill>
              <a:srgbClr val="C46E5E">
                <a:alpha val="0"/>
              </a:srgbClr>
            </a:solidFill>
            <a:prstDash val="solid"/>
          </a:ln>
        </p:spPr>
      </p:sp>
      <p:sp>
        <p:nvSpPr>
          <p:cNvPr id="10" name="Text 8"/>
          <p:cNvSpPr txBox="1"/>
          <p:nvPr/>
        </p:nvSpPr>
        <p:spPr>
          <a:xfrm>
            <a:off x="6620256" y="1682496"/>
            <a:ext cx="4608576" cy="347472"/>
          </a:xfrm>
          <a:prstGeom prst="rect">
            <a:avLst/>
          </a:prstGeom>
          <a:noFill/>
          <a:ln/>
        </p:spPr>
        <p:txBody>
          <a:bodyPr wrap="square" lIns="0" tIns="0" rIns="0" bIns="0" rtlCol="0" anchor="ctr">
            <a:normAutofit/>
          </a:bodyPr>
          <a:lstStyle/>
          <a:p>
            <a:pPr marL="0" indent="0" algn="l">
              <a:buNone/>
            </a:pPr>
            <a:r>
              <a:rPr lang="en-US" sz="1900" b="1" dirty="0">
                <a:solidFill>
                  <a:srgbClr val="29261F"/>
                </a:solidFill>
                <a:latin typeface="Aptos" pitchFamily="34" charset="0"/>
                <a:ea typeface="Aptos" pitchFamily="34" charset="-122"/>
                <a:cs typeface="Aptos" pitchFamily="34" charset="-120"/>
              </a:rPr>
              <a:t>Important limits</a:t>
            </a:r>
            <a:endParaRPr lang="en-US" sz="1900" dirty="0"/>
          </a:p>
        </p:txBody>
      </p:sp>
      <p:sp>
        <p:nvSpPr>
          <p:cNvPr id="11" name="Text 9"/>
          <p:cNvSpPr txBox="1"/>
          <p:nvPr/>
        </p:nvSpPr>
        <p:spPr>
          <a:xfrm>
            <a:off x="6620256" y="2130552"/>
            <a:ext cx="4562856" cy="2578608"/>
          </a:xfrm>
          <a:prstGeom prst="rect">
            <a:avLst/>
          </a:prstGeom>
          <a:noFill/>
          <a:ln/>
        </p:spPr>
        <p:txBody>
          <a:bodyPr wrap="square" lIns="0" tIns="0" rIns="0" bIns="0" rtlCol="0" anchor="t">
            <a:normAutofit/>
          </a:bodyPr>
          <a:lstStyle/>
          <a:p>
            <a:pPr marL="0" indent="0" algn="l">
              <a:buNone/>
            </a:pPr>
            <a:r>
              <a:rPr lang="en-US" sz="1400" dirty="0">
                <a:solidFill>
                  <a:srgbClr val="6A6256"/>
                </a:solidFill>
                <a:latin typeface="Aptos" pitchFamily="34" charset="0"/>
                <a:ea typeface="Aptos" pitchFamily="34" charset="-122"/>
                <a:cs typeface="Aptos" pitchFamily="34" charset="-120"/>
              </a:rPr>
              <a:t>• Public demo accounts; not secure authentication</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Records live in memory; restarts clear them</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Render free API can sleep and wake slowly</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Illustrative route, not live navigation</a:t>
            </a:r>
            <a:endParaRPr lang="en-US" sz="1400" dirty="0"/>
          </a:p>
          <a:p>
            <a:pPr marL="0" indent="0" algn="l">
              <a:buNone/>
            </a:pPr>
            <a:r>
              <a:rPr lang="en-US" sz="1400" dirty="0">
                <a:solidFill>
                  <a:srgbClr val="6A6256"/>
                </a:solidFill>
                <a:latin typeface="Aptos" pitchFamily="34" charset="0"/>
                <a:ea typeface="Aptos" pitchFamily="34" charset="-122"/>
                <a:cs typeface="Aptos" pitchFamily="34" charset="-120"/>
              </a:rPr>
              <a:t>• Not a production food-safety service</a:t>
            </a:r>
            <a:endParaRPr lang="en-US" sz="1400" dirty="0"/>
          </a:p>
        </p:txBody>
      </p:sp>
      <p:sp>
        <p:nvSpPr>
          <p:cNvPr id="12" name="Text 10"/>
          <p:cNvSpPr txBox="1"/>
          <p:nvPr/>
        </p:nvSpPr>
        <p:spPr>
          <a:xfrm>
            <a:off x="804672" y="5303520"/>
            <a:ext cx="2057400" cy="292608"/>
          </a:xfrm>
          <a:prstGeom prst="rect">
            <a:avLst/>
          </a:prstGeom>
          <a:noFill/>
          <a:ln/>
        </p:spPr>
        <p:txBody>
          <a:bodyPr wrap="square" lIns="0" tIns="0" rIns="0" bIns="0" rtlCol="0" anchor="ctr">
            <a:normAutofit/>
          </a:bodyPr>
          <a:lstStyle/>
          <a:p>
            <a:pPr marL="0" indent="0" algn="l">
              <a:buNone/>
            </a:pPr>
            <a:r>
              <a:rPr lang="en-US" sz="1300" b="1" dirty="0">
                <a:solidFill>
                  <a:srgbClr val="BD7B1C"/>
                </a:solidFill>
                <a:latin typeface="Aptos" pitchFamily="34" charset="0"/>
                <a:ea typeface="Aptos" pitchFamily="34" charset="-122"/>
                <a:cs typeface="Aptos" pitchFamily="34" charset="-120"/>
              </a:rPr>
              <a:t>Possible next steps</a:t>
            </a:r>
            <a:endParaRPr lang="en-US" sz="1300" dirty="0"/>
          </a:p>
        </p:txBody>
      </p:sp>
      <p:sp>
        <p:nvSpPr>
          <p:cNvPr id="13" name="Text 11"/>
          <p:cNvSpPr txBox="1"/>
          <p:nvPr/>
        </p:nvSpPr>
        <p:spPr>
          <a:xfrm>
            <a:off x="2761488" y="5303520"/>
            <a:ext cx="8595360" cy="292608"/>
          </a:xfrm>
          <a:prstGeom prst="rect">
            <a:avLst/>
          </a:prstGeom>
          <a:noFill/>
          <a:ln/>
        </p:spPr>
        <p:txBody>
          <a:bodyPr wrap="square" lIns="0" tIns="0" rIns="0" bIns="0" rtlCol="0" anchor="ctr">
            <a:normAutofit/>
          </a:bodyPr>
          <a:lstStyle/>
          <a:p>
            <a:pPr marL="0" indent="0" algn="l">
              <a:buNone/>
            </a:pPr>
            <a:r>
              <a:rPr lang="en-US" sz="1500" b="1" dirty="0">
                <a:solidFill>
                  <a:srgbClr val="29261F"/>
                </a:solidFill>
                <a:latin typeface="Aptos" pitchFamily="34" charset="0"/>
                <a:ea typeface="Aptos" pitchFamily="34" charset="-122"/>
                <a:cs typeface="Aptos" pitchFamily="34" charset="-120"/>
              </a:rPr>
              <a:t>Server-side authentication   •   Persistent database   •   Real routing and operations</a:t>
            </a:r>
            <a:endParaRPr lang="en-US" sz="1500" dirty="0"/>
          </a:p>
        </p:txBody>
      </p:sp>
      <p:sp>
        <p:nvSpPr>
          <p:cNvPr id="25"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6"/>
        </a:solidFill>
        <a:effectLst/>
      </p:bgPr>
    </p:bg>
    <p:spTree>
      <p:nvGrpSpPr>
        <p:cNvPr id="1" name=""/>
        <p:cNvGrpSpPr/>
        <p:nvPr/>
      </p:nvGrpSpPr>
      <p:grpSpPr>
        <a:xfrm>
          <a:off x="0" y="0"/>
          <a:ext cx="0" cy="0"/>
          <a:chOff x="0" y="0"/>
          <a:chExt cx="0" cy="0"/>
        </a:xfrm>
      </p:grpSpPr>
      <p:sp>
        <p:nvSpPr>
          <p:cNvPr id="2" name="Text 0"/>
          <p:cNvSpPr txBox="1"/>
          <p:nvPr/>
        </p:nvSpPr>
        <p:spPr>
          <a:xfrm>
            <a:off x="749808" y="777240"/>
            <a:ext cx="3108960" cy="274320"/>
          </a:xfrm>
          <a:prstGeom prst="rect">
            <a:avLst/>
          </a:prstGeom>
          <a:noFill/>
          <a:ln/>
        </p:spPr>
        <p:txBody>
          <a:bodyPr wrap="square" lIns="0" tIns="0" rIns="0" bIns="0" rtlCol="0" anchor="ctr">
            <a:normAutofit/>
          </a:bodyPr>
          <a:lstStyle/>
          <a:p>
            <a:pPr marL="0" indent="0" algn="l">
              <a:buNone/>
            </a:pPr>
            <a:r>
              <a:rPr lang="en-US" sz="1200" b="1" kern="0" spc="110" dirty="0">
                <a:solidFill>
                  <a:srgbClr val="BD7B1C"/>
                </a:solidFill>
                <a:latin typeface="Aptos" pitchFamily="34" charset="0"/>
                <a:ea typeface="Aptos" pitchFamily="34" charset="-122"/>
                <a:cs typeface="Aptos" pitchFamily="34" charset="-120"/>
              </a:rPr>
              <a:t>THE TAKEAWAY</a:t>
            </a:r>
            <a:endParaRPr lang="en-US" sz="1200" dirty="0"/>
          </a:p>
        </p:txBody>
      </p:sp>
      <p:sp>
        <p:nvSpPr>
          <p:cNvPr id="3" name="Text 1"/>
          <p:cNvSpPr txBox="1"/>
          <p:nvPr/>
        </p:nvSpPr>
        <p:spPr>
          <a:xfrm>
            <a:off x="749808" y="1280160"/>
            <a:ext cx="6583680" cy="2194560"/>
          </a:xfrm>
          <a:prstGeom prst="rect">
            <a:avLst/>
          </a:prstGeom>
          <a:noFill/>
          <a:ln/>
        </p:spPr>
        <p:txBody>
          <a:bodyPr wrap="square" lIns="0" tIns="0" rIns="0" bIns="0" rtlCol="0" anchor="t">
            <a:normAutofit/>
          </a:bodyPr>
          <a:lstStyle/>
          <a:p>
            <a:pPr marL="0" indent="0" algn="l">
              <a:buNone/>
            </a:pPr>
            <a:r>
              <a:rPr lang="en-US" sz="3800" b="1" dirty="0">
                <a:solidFill>
                  <a:srgbClr val="29261F"/>
                </a:solidFill>
                <a:latin typeface="Aptos" pitchFamily="34" charset="0"/>
                <a:ea typeface="Aptos" pitchFamily="34" charset="-122"/>
                <a:cs typeface="Aptos" pitchFamily="34" charset="-120"/>
              </a:rPr>
              <a:t>FoodShare turns</a:t>
            </a:r>
            <a:endParaRPr lang="en-US" sz="3800" dirty="0"/>
          </a:p>
          <a:p>
            <a:pPr marL="0" indent="0" algn="l">
              <a:buNone/>
            </a:pPr>
            <a:r>
              <a:rPr lang="en-US" sz="3800" b="1" dirty="0">
                <a:solidFill>
                  <a:srgbClr val="29261F"/>
                </a:solidFill>
                <a:latin typeface="Aptos" pitchFamily="34" charset="0"/>
                <a:ea typeface="Aptos" pitchFamily="34" charset="-122"/>
                <a:cs typeface="Aptos" pitchFamily="34" charset="-120"/>
              </a:rPr>
              <a:t>surplus into a</a:t>
            </a:r>
            <a:endParaRPr lang="en-US" sz="3800" dirty="0"/>
          </a:p>
          <a:p>
            <a:pPr marL="0" indent="0" algn="l">
              <a:buNone/>
            </a:pPr>
            <a:r>
              <a:rPr lang="en-US" sz="3800" b="1" dirty="0">
                <a:solidFill>
                  <a:srgbClr val="29261F"/>
                </a:solidFill>
                <a:latin typeface="Aptos" pitchFamily="34" charset="0"/>
                <a:ea typeface="Aptos" pitchFamily="34" charset="-122"/>
                <a:cs typeface="Aptos" pitchFamily="34" charset="-120"/>
              </a:rPr>
              <a:t>visible workflow.</a:t>
            </a:r>
            <a:endParaRPr lang="en-US" sz="3800" dirty="0"/>
          </a:p>
        </p:txBody>
      </p:sp>
      <p:sp>
        <p:nvSpPr>
          <p:cNvPr id="4" name="Text 2"/>
          <p:cNvSpPr txBox="1"/>
          <p:nvPr/>
        </p:nvSpPr>
        <p:spPr>
          <a:xfrm>
            <a:off x="804672" y="3840480"/>
            <a:ext cx="5852160" cy="1097280"/>
          </a:xfrm>
          <a:prstGeom prst="rect">
            <a:avLst/>
          </a:prstGeom>
          <a:noFill/>
          <a:ln/>
        </p:spPr>
        <p:txBody>
          <a:bodyPr wrap="square" lIns="0" tIns="0" rIns="0" bIns="0" rtlCol="0" anchor="t">
            <a:normAutofit/>
          </a:bodyPr>
          <a:lstStyle/>
          <a:p>
            <a:pPr marL="0" indent="0" algn="l">
              <a:buNone/>
            </a:pPr>
            <a:r>
              <a:rPr lang="en-US" sz="2000" dirty="0">
                <a:solidFill>
                  <a:srgbClr val="6A6256"/>
                </a:solidFill>
                <a:latin typeface="Aptos" pitchFamily="34" charset="0"/>
                <a:ea typeface="Aptos" pitchFamily="34" charset="-122"/>
                <a:cs typeface="Aptos" pitchFamily="34" charset="-120"/>
              </a:rPr>
              <a:t>Real community problem.</a:t>
            </a:r>
            <a:endParaRPr lang="en-US" sz="2000" dirty="0"/>
          </a:p>
          <a:p>
            <a:pPr marL="0" indent="0" algn="l">
              <a:buNone/>
            </a:pPr>
            <a:r>
              <a:rPr lang="en-US" sz="2000" dirty="0">
                <a:solidFill>
                  <a:srgbClr val="6A6256"/>
                </a:solidFill>
                <a:latin typeface="Aptos" pitchFamily="34" charset="0"/>
                <a:ea typeface="Aptos" pitchFamily="34" charset="-122"/>
                <a:cs typeface="Aptos" pitchFamily="34" charset="-120"/>
              </a:rPr>
              <a:t>Real C structures.</a:t>
            </a:r>
            <a:endParaRPr lang="en-US" sz="2000" dirty="0"/>
          </a:p>
          <a:p>
            <a:pPr marL="0" indent="0" algn="l">
              <a:buNone/>
            </a:pPr>
            <a:r>
              <a:rPr lang="en-US" sz="2000" dirty="0">
                <a:solidFill>
                  <a:srgbClr val="6A6256"/>
                </a:solidFill>
                <a:latin typeface="Aptos" pitchFamily="34" charset="0"/>
                <a:ea typeface="Aptos" pitchFamily="34" charset="-122"/>
                <a:cs typeface="Aptos" pitchFamily="34" charset="-120"/>
              </a:rPr>
              <a:t>A simple interface that helps us learn.</a:t>
            </a:r>
            <a:endParaRPr lang="en-US" sz="2000" dirty="0"/>
          </a:p>
        </p:txBody>
      </p:sp>
      <p:sp>
        <p:nvSpPr>
          <p:cNvPr id="5" name="Shape 3"/>
          <p:cNvSpPr/>
          <p:nvPr/>
        </p:nvSpPr>
        <p:spPr>
          <a:xfrm>
            <a:off x="7772400" y="1463040"/>
            <a:ext cx="3474720" cy="3291840"/>
          </a:xfrm>
          <a:prstGeom prst="roundRect">
            <a:avLst>
              <a:gd name="adj" fmla="val 2222"/>
            </a:avLst>
          </a:prstGeom>
          <a:solidFill>
            <a:srgbClr val="FFFFFF"/>
          </a:solidFill>
          <a:ln w="12700">
            <a:solidFill>
              <a:srgbClr val="DED5C6"/>
            </a:solidFill>
            <a:prstDash val="solid"/>
          </a:ln>
        </p:spPr>
      </p:sp>
      <p:sp>
        <p:nvSpPr>
          <p:cNvPr id="6" name="Text 4"/>
          <p:cNvSpPr txBox="1"/>
          <p:nvPr/>
        </p:nvSpPr>
        <p:spPr>
          <a:xfrm>
            <a:off x="8110728" y="1847088"/>
            <a:ext cx="2788920" cy="384048"/>
          </a:xfrm>
          <a:prstGeom prst="rect">
            <a:avLst/>
          </a:prstGeom>
          <a:noFill/>
          <a:ln/>
        </p:spPr>
        <p:txBody>
          <a:bodyPr wrap="square" lIns="0" tIns="0" rIns="0" bIns="0" rtlCol="0" anchor="ctr">
            <a:noAutofit/>
          </a:bodyPr>
          <a:lstStyle/>
          <a:p>
            <a:pPr marL="0" indent="0" algn="ctr">
              <a:buNone/>
            </a:pPr>
            <a:r>
              <a:rPr lang="en-US" sz="3600" b="1" dirty="0">
                <a:solidFill>
                  <a:srgbClr val="35512D"/>
                </a:solidFill>
                <a:latin typeface="Aptos" pitchFamily="34" charset="0"/>
                <a:ea typeface="Aptos" pitchFamily="34" charset="-122"/>
                <a:cs typeface="Aptos" pitchFamily="34" charset="-120"/>
              </a:rPr>
              <a:t>THANK YOU</a:t>
            </a:r>
            <a:endParaRPr lang="en-US" sz="3600" dirty="0"/>
          </a:p>
        </p:txBody>
      </p:sp>
      <p:sp>
        <p:nvSpPr>
          <p:cNvPr id="7" name="Text 5"/>
          <p:cNvSpPr txBox="1"/>
          <p:nvPr/>
        </p:nvSpPr>
        <p:spPr>
          <a:xfrm>
            <a:off x="8110728" y="2487168"/>
            <a:ext cx="2788920" cy="429768"/>
          </a:xfrm>
          <a:prstGeom prst="rect">
            <a:avLst/>
          </a:prstGeom>
          <a:noFill/>
          <a:ln/>
        </p:spPr>
        <p:txBody>
          <a:bodyPr wrap="square" lIns="0" tIns="0" rIns="0" bIns="0" rtlCol="0" anchor="ctr">
            <a:normAutofit/>
          </a:bodyPr>
          <a:lstStyle/>
          <a:p>
            <a:pPr marL="0" indent="0" algn="ctr">
              <a:buNone/>
            </a:pPr>
            <a:r>
              <a:rPr lang="en-US" sz="2700" b="1" dirty="0">
                <a:solidFill>
                  <a:srgbClr val="29261F"/>
                </a:solidFill>
                <a:latin typeface="Aptos" pitchFamily="34" charset="0"/>
                <a:ea typeface="Aptos" pitchFamily="34" charset="-122"/>
                <a:cs typeface="Aptos" pitchFamily="34" charset="-120"/>
              </a:rPr>
              <a:t>Questions?</a:t>
            </a:r>
            <a:endParaRPr lang="en-US" sz="2700" dirty="0"/>
          </a:p>
        </p:txBody>
      </p:sp>
      <p:sp>
        <p:nvSpPr>
          <p:cNvPr id="8" name="Text 6"/>
          <p:cNvSpPr txBox="1"/>
          <p:nvPr/>
        </p:nvSpPr>
        <p:spPr>
          <a:xfrm>
            <a:off x="8302752" y="3246120"/>
            <a:ext cx="2423160" cy="219456"/>
          </a:xfrm>
          <a:prstGeom prst="rect">
            <a:avLst/>
          </a:prstGeom>
          <a:noFill/>
          <a:ln/>
        </p:spPr>
        <p:txBody>
          <a:bodyPr wrap="square" lIns="0" tIns="0" rIns="0" bIns="0" rtlCol="0" anchor="ctr">
            <a:normAutofit/>
          </a:bodyPr>
          <a:lstStyle/>
          <a:p>
            <a:pPr marL="0" indent="0" algn="ctr">
              <a:buNone/>
            </a:pPr>
            <a:r>
              <a:rPr lang="en-US" sz="1100" dirty="0">
                <a:solidFill>
                  <a:srgbClr val="6A6256"/>
                </a:solidFill>
                <a:latin typeface="Aptos" pitchFamily="34" charset="0"/>
                <a:ea typeface="Aptos" pitchFamily="34" charset="-122"/>
                <a:cs typeface="Aptos" pitchFamily="34" charset="-120"/>
              </a:rPr>
              <a:t>Live demo</a:t>
            </a:r>
            <a:endParaRPr lang="en-US" sz="1100" dirty="0"/>
          </a:p>
        </p:txBody>
      </p:sp>
      <p:sp>
        <p:nvSpPr>
          <p:cNvPr id="9" name="Text 7"/>
          <p:cNvSpPr txBox="1"/>
          <p:nvPr/>
        </p:nvSpPr>
        <p:spPr>
          <a:xfrm>
            <a:off x="8028432" y="3575304"/>
            <a:ext cx="2926080" cy="438912"/>
          </a:xfrm>
          <a:prstGeom prst="rect">
            <a:avLst/>
          </a:prstGeom>
          <a:noFill/>
          <a:ln/>
        </p:spPr>
        <p:txBody>
          <a:bodyPr wrap="square" lIns="0" tIns="0" rIns="0" bIns="0" rtlCol="0" anchor="ctr">
            <a:normAutofit/>
          </a:bodyPr>
          <a:lstStyle/>
          <a:p>
            <a:pPr marL="0" indent="0" algn="ctr">
              <a:buNone/>
            </a:pPr>
            <a:r>
              <a:rPr lang="en-US" sz="1100" b="1" u="sng" dirty="0">
                <a:solidFill>
                  <a:srgbClr val="BD7B1C"/>
                </a:solidFill>
                <a:latin typeface="Aptos" pitchFamily="34" charset="0"/>
                <a:ea typeface="Aptos" pitchFamily="34" charset="-122"/>
                <a:cs typeface="Aptos" pitchFamily="34" charset="-120"/>
              </a:rPr>
              <a:t>smart-food-donate.vercel.app/c-demo</a:t>
            </a:r>
            <a:endParaRPr lang="en-US" sz="1100" u="sng" dirty="0"/>
          </a:p>
        </p:txBody>
      </p:sp>
      <p:sp>
        <p:nvSpPr>
          <p:cNvPr id="25" name="Slide Number Placeholder 0"/>
          <p:cNvSpPr>
            <a:spLocks noGrp="1"/>
          </p:cNvSpPr>
          <p:nvPr>
            <p:ph type="sldNum" sz="quarter" idx="4294967295"/>
          </p:nvPr>
        </p:nvSpPr>
        <p:spPr>
          <a:xfrm>
            <a:off x="11320272" y="6528816"/>
            <a:ext cx="365760" cy="182880"/>
          </a:xfrm>
          <a:prstGeom prst="rect">
            <a:avLst/>
          </a:prstGeom>
          <a:extLst>
            <a:ext uri="{C572A759-6A51-4108-AA02-DFA0A04FC94B}">
              <ma14:wrappingTextBoxFlag xmlns="" xmlns:ma14="http://schemas.microsoft.com/office/mac/drawingml/2011/main" val="0"/>
            </a:ext>
          </a:extLst>
        </p:spPr>
        <p:txBody>
          <a:bodyPr/>
          <a:lstStyle>
            <a:lvl1pPr>
              <a:defRPr sz="800">
                <a:solidFill>
                  <a:srgbClr val="756C60"/>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1279</Words>
  <Application>Microsoft Office PowerPoint</Application>
  <PresentationFormat>Widescreen</PresentationFormat>
  <Paragraphs>210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FoodShare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FoodShare — From Surplus to Shared</dc:title>
  <dc:subject>FoodShare project presentation</dc:subject>
  <dc:creator>FoodShare project team</dc:creator>
  <cp:lastModifiedBy>George .V. Sebastian</cp:lastModifiedBy>
  <cp:revision>5</cp:revision>
  <dcterms:created xsi:type="dcterms:W3CDTF">2026-10-08T19:21:21Z</dcterms:created>
  <dcterms:modified xsi:type="dcterms:W3CDTF">2026-10-08T19:50:22Z</dcterms:modified>
</cp:coreProperties>
</file>